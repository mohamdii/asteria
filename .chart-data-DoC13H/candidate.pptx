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bfece554c1e4e0f" /><Relationship Type="http://schemas.openxmlformats.org/officeDocument/2006/relationships/extended-properties" Target="/docProps/app.xml" Id="Rb7071167076e4bd3" /><Relationship Type="http://schemas.openxmlformats.org/officeDocument/2006/relationships/officeDocument" Target="/ppt/presentation.xml" Id="R27a7d70ad9114167" /></Relationships>
</file>

<file path=ppt/presentation.xml><?xml version="1.0" encoding="utf-8"?>
<p:presentation xmlns:p="http://schemas.openxmlformats.org/presentationml/2006/main">
  <p:sldMasterIdLst>
    <p:sldMasterId xmlns:r="http://schemas.openxmlformats.org/officeDocument/2006/relationships" id="2147483648" r:id="Rb28ac7d69e564cfc"/>
  </p:sldMasterIdLst>
  <p:notesMasterIdLst>
    <p:notesMasterId xmlns:r="http://schemas.openxmlformats.org/officeDocument/2006/relationships" r:id="Rb7b33d22b5064e83"/>
  </p:notesMasterIdLst>
  <p:sldIdLst>
    <p:sldId xmlns:r="http://schemas.openxmlformats.org/officeDocument/2006/relationships" id="256" r:id="Rd6b32260d9c4448e"/>
    <p:sldId xmlns:r="http://schemas.openxmlformats.org/officeDocument/2006/relationships" id="257" r:id="Rd00b46346a3a4cba"/>
    <p:sldId xmlns:r="http://schemas.openxmlformats.org/officeDocument/2006/relationships" id="258" r:id="Re5be7d34aea548a2"/>
    <p:sldId xmlns:r="http://schemas.openxmlformats.org/officeDocument/2006/relationships" id="259" r:id="R99005e083234483d"/>
    <p:sldId xmlns:r="http://schemas.openxmlformats.org/officeDocument/2006/relationships" id="260" r:id="Ra0ceb9a807d743e9"/>
    <p:sldId xmlns:r="http://schemas.openxmlformats.org/officeDocument/2006/relationships" id="261" r:id="R17cc1078e1964dac"/>
    <p:sldId xmlns:r="http://schemas.openxmlformats.org/officeDocument/2006/relationships" id="262" r:id="Re2a3206d69404edf"/>
    <p:sldId xmlns:r="http://schemas.openxmlformats.org/officeDocument/2006/relationships" id="263" r:id="R2fd4c49684d64aab"/>
    <p:sldId xmlns:r="http://schemas.openxmlformats.org/officeDocument/2006/relationships" id="264" r:id="Rec6fb13146864e55"/>
    <p:sldId xmlns:r="http://schemas.openxmlformats.org/officeDocument/2006/relationships" id="265" r:id="R53626848812e4314"/>
    <p:sldId xmlns:r="http://schemas.openxmlformats.org/officeDocument/2006/relationships" id="266" r:id="Ra360fdc4877c4318"/>
    <p:sldId xmlns:r="http://schemas.openxmlformats.org/officeDocument/2006/relationships" id="267" r:id="R79ca1fcff8c641e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5d453bd2e6d49fb" /><Relationship Type="http://schemas.openxmlformats.org/officeDocument/2006/relationships/slideMaster" Target="/ppt/slideMasters/slideMaster1.xml" Id="Rb28ac7d69e564cfc" /><Relationship Type="http://schemas.openxmlformats.org/officeDocument/2006/relationships/notesMaster" Target="/ppt/notesMasters/notesMaster1.xml" Id="Rb7b33d22b5064e83" /><Relationship Type="http://schemas.openxmlformats.org/officeDocument/2006/relationships/presProps" Target="/ppt/presProps.xml" Id="R153c5165ce3c4263" /><Relationship Type="http://schemas.openxmlformats.org/officeDocument/2006/relationships/tableStyles" Target="/ppt/tableStyles.xml" Id="R01a75291f384465d" /><Relationship Type="http://schemas.openxmlformats.org/officeDocument/2006/relationships/slide" Target="/ppt/slides/slide1.xml" Id="Rd6b32260d9c4448e" /><Relationship Type="http://schemas.openxmlformats.org/officeDocument/2006/relationships/slide" Target="/ppt/slides/slide2.xml" Id="Rd00b46346a3a4cba" /><Relationship Type="http://schemas.openxmlformats.org/officeDocument/2006/relationships/slide" Target="/ppt/slides/slide3.xml" Id="Re5be7d34aea548a2" /><Relationship Type="http://schemas.openxmlformats.org/officeDocument/2006/relationships/slide" Target="/ppt/slides/slide4.xml" Id="R99005e083234483d" /><Relationship Type="http://schemas.openxmlformats.org/officeDocument/2006/relationships/slide" Target="/ppt/slides/slide5.xml" Id="Ra0ceb9a807d743e9" /><Relationship Type="http://schemas.openxmlformats.org/officeDocument/2006/relationships/slide" Target="/ppt/slides/slide6.xml" Id="R17cc1078e1964dac" /><Relationship Type="http://schemas.openxmlformats.org/officeDocument/2006/relationships/slide" Target="/ppt/slides/slide7.xml" Id="Re2a3206d69404edf" /><Relationship Type="http://schemas.openxmlformats.org/officeDocument/2006/relationships/slide" Target="/ppt/slides/slide8.xml" Id="R2fd4c49684d64aab" /><Relationship Type="http://schemas.openxmlformats.org/officeDocument/2006/relationships/slide" Target="/ppt/slides/slide9.xml" Id="Rec6fb13146864e55" /><Relationship Type="http://schemas.openxmlformats.org/officeDocument/2006/relationships/slide" Target="/ppt/slides/slide10.xml" Id="R53626848812e4314" /><Relationship Type="http://schemas.openxmlformats.org/officeDocument/2006/relationships/slide" Target="/ppt/slides/slide11.xml" Id="Ra360fdc4877c4318" /><Relationship Type="http://schemas.openxmlformats.org/officeDocument/2006/relationships/slide" Target="/ppt/slides/slide12.xml" Id="R79ca1fcff8c641e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91c4a4315c7477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9c1f5ddc10b451b" /><Relationship Type="http://schemas.openxmlformats.org/officeDocument/2006/relationships/notesMaster" Target="/ppt/notesMasters/notesMaster1.xml" Id="R3d811368f93e4683" /></Relationships>
</file>

<file path=ppt/notesSlides/_rels/notesSlide2.xml.rels>&#65279;<?xml version="1.0" encoding="utf-8"?><Relationships xmlns="http://schemas.openxmlformats.org/package/2006/relationships"><Relationship Type="http://schemas.openxmlformats.org/officeDocument/2006/relationships/slide" Target="/ppt/slides/slide2.xml" Id="R9aeb2818bc614dd0" /><Relationship Type="http://schemas.openxmlformats.org/officeDocument/2006/relationships/notesMaster" Target="/ppt/notesMasters/notesMaster1.xml" Id="R2702adb6307e4b9c" /></Relationships>
</file>

<file path=ppt/notesSlides/_rels/notesSlide3.xml.rels>&#65279;<?xml version="1.0" encoding="utf-8"?><Relationships xmlns="http://schemas.openxmlformats.org/package/2006/relationships"><Relationship Type="http://schemas.openxmlformats.org/officeDocument/2006/relationships/slide" Target="/ppt/slides/slide3.xml" Id="R7d6e408826524d3b" /><Relationship Type="http://schemas.openxmlformats.org/officeDocument/2006/relationships/notesMaster" Target="/ppt/notesMasters/notesMaster1.xml" Id="Rb4cdacadd8104c84" /></Relationships>
</file>

<file path=ppt/notesSlides/_rels/notesSlide4.xml.rels>&#65279;<?xml version="1.0" encoding="utf-8"?><Relationships xmlns="http://schemas.openxmlformats.org/package/2006/relationships"><Relationship Type="http://schemas.openxmlformats.org/officeDocument/2006/relationships/slide" Target="/ppt/slides/slide4.xml" Id="R848bfdeff85f4d5f" /><Relationship Type="http://schemas.openxmlformats.org/officeDocument/2006/relationships/notesMaster" Target="/ppt/notesMasters/notesMaster1.xml" Id="Rc7b93032a8ca45da" /></Relationships>
</file>

<file path=ppt/notesSlides/_rels/notesSlide5.xml.rels>&#65279;<?xml version="1.0" encoding="utf-8"?><Relationships xmlns="http://schemas.openxmlformats.org/package/2006/relationships"><Relationship Type="http://schemas.openxmlformats.org/officeDocument/2006/relationships/slide" Target="/ppt/slides/slide5.xml" Id="R65e3372dfedb4714" /><Relationship Type="http://schemas.openxmlformats.org/officeDocument/2006/relationships/notesMaster" Target="/ppt/notesMasters/notesMaster1.xml" Id="R1f547c28609a4943" /></Relationships>
</file>

<file path=ppt/notesSlides/_rels/notesSlide6.xml.rels>&#65279;<?xml version="1.0" encoding="utf-8"?><Relationships xmlns="http://schemas.openxmlformats.org/package/2006/relationships"><Relationship Type="http://schemas.openxmlformats.org/officeDocument/2006/relationships/slide" Target="/ppt/slides/slide6.xml" Id="R4a390a5d7ce04a9f" /><Relationship Type="http://schemas.openxmlformats.org/officeDocument/2006/relationships/notesMaster" Target="/ppt/notesMasters/notesMaster1.xml" Id="Rae82af48d19a4051" /></Relationships>
</file>

<file path=ppt/notesSlides/_rels/notesSlide7.xml.rels>&#65279;<?xml version="1.0" encoding="utf-8"?><Relationships xmlns="http://schemas.openxmlformats.org/package/2006/relationships"><Relationship Type="http://schemas.openxmlformats.org/officeDocument/2006/relationships/slide" Target="/ppt/slides/slide7.xml" Id="R7f537405a3eb4474" /><Relationship Type="http://schemas.openxmlformats.org/officeDocument/2006/relationships/notesMaster" Target="/ppt/notesMasters/notesMaster1.xml" Id="R3506286edc6b43eb" /></Relationships>
</file>

<file path=ppt/notesSlides/_rels/notesSlide8.xml.rels>&#65279;<?xml version="1.0" encoding="utf-8"?><Relationships xmlns="http://schemas.openxmlformats.org/package/2006/relationships"><Relationship Type="http://schemas.openxmlformats.org/officeDocument/2006/relationships/slide" Target="/ppt/slides/slide8.xml" Id="R8a44ed8f83234242" /><Relationship Type="http://schemas.openxmlformats.org/officeDocument/2006/relationships/notesMaster" Target="/ppt/notesMasters/notesMaster1.xml" Id="R71ff5af9c8c14031" /></Relationships>
</file>

<file path=ppt/notesSlides/_rels/notesSlide9.xml.rels>&#65279;<?xml version="1.0" encoding="utf-8"?><Relationships xmlns="http://schemas.openxmlformats.org/package/2006/relationships"><Relationship Type="http://schemas.openxmlformats.org/officeDocument/2006/relationships/slide" Target="/ppt/slides/slide9.xml" Id="R1760b171237c42a1" /><Relationship Type="http://schemas.openxmlformats.org/officeDocument/2006/relationships/notesMaster" Target="/ppt/notesMasters/notesMaster1.xml" Id="R4facae3654434fb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0a073e781de4226" /><Relationship Type="http://schemas.openxmlformats.org/officeDocument/2006/relationships/notesMaster" Target="/ppt/notesMasters/notesMaster1.xml" Id="Ref3bf9a87d804e8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69a6446f7bf44db" /><Relationship Type="http://schemas.openxmlformats.org/officeDocument/2006/relationships/notesMaster" Target="/ppt/notesMasters/notesMaster1.xml" Id="R52b3ed8a3522490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c2a029ae76342d8" /><Relationship Type="http://schemas.openxmlformats.org/officeDocument/2006/relationships/notesMaster" Target="/ppt/notesMasters/notesMaster1.xml" Id="R4d33a2a3076c404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0:00-0:45 (45 seconds)</a:t>
            </a:r>
          </a:p>
          <a:p xmlns:a="http://schemas.openxmlformats.org/drawingml/2006/main">
            <a:r>
              <a:t/>
            </a:r>
          </a:p>
          <a:p xmlns:a="http://schemas.openxmlformats.org/drawingml/2006/main">
            <a:r>
              <a:t>Introduce this as an analysis of supplied synthetic workforce data. The question is whether retention and regretted turnover meet the stated objectives, and how much historical economic evidence can responsibly provide context. Explain that the delivered application is an offline HTML dashboard backed by a Python pipeline. The presentation covers the results first, then the decisions that make them interpretable, and finally a proposed production design.</a:t>
            </a:r>
          </a:p>
          <a:p xmlns:a="http://schemas.openxmlformats.org/drawingml/2006/main">
            <a:r>
              <a:t/>
            </a:r>
          </a:p>
          <a:p xmlns:a="http://schemas.openxmlformats.org/drawingml/2006/main">
            <a:r>
              <a:t>Project sources: docs/requirements-and-decisions.md</a:t>
            </a:r>
          </a:p>
          <a:p xmlns:a="http://schemas.openxmlformats.org/drawingml/2006/main">
            <a:r>
              <a:t>AI-generated illustrative workplace image, created with the built-in image generation tool.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0:45-2:15 (90 seconds)</a:t>
            </a:r>
          </a:p>
          <a:p xmlns:a="http://schemas.openxmlformats.org/drawingml/2006/main">
            <a:r>
              <a:t/>
            </a:r>
          </a:p>
          <a:p xmlns:a="http://schemas.openxmlformats.org/drawingml/2006/main">
            <a:r>
              <a:t>Start with the business finding. Six-month retention exceeds the target by 1.15 percentage points. Senior retention falls 11.43 percentage points below its target and deserves investigation. Regretted turnover remains below the ceiling. These measures use different eligible populations, so their rates should not be compared as if they measured the same thing. All findings describe this synthetic dataset. The external analysis does not explain why employees leave. Use the next slides to show how the denominators and exclusions support these conclusions.</a:t>
            </a:r>
          </a:p>
          <a:p xmlns:a="http://schemas.openxmlformats.org/drawingml/2006/main">
            <a:r>
              <a:t/>
            </a:r>
          </a:p>
          <a:p xmlns:a="http://schemas.openxmlformats.org/drawingml/2006/main">
            <a:r>
              <a:t>Project sources: analysis/new_hire_6m_summary.json; analysis/senior_hire_12m_summary.json; analysis/regretted_turnover_summary.json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2:15-3:45 (90 seconds)</a:t>
            </a:r>
          </a:p>
          <a:p xmlns:a="http://schemas.openxmlformats.org/drawingml/2006/main">
            <a:r>
              <a:t/>
            </a:r>
          </a:p>
          <a:p xmlns:a="http://schemas.openxmlformats.org/drawingml/2006/main">
            <a:r>
              <a:t>Explain that the raw input remains unchanged. Cleaning removes exact duplicate rows and applies documented country aliases, including EL to GR and ROM to RO. It does not guess missing countries. Nine unique records still have unknown country. Five of those fall within the mature six-month population, which explains the five shown in coverage. Ten records have missing hire dates or termination before hire and are excluded from date-based metrics, while retained in the audit. Flags can overlap and must not be added as if they were disjoint counts. The provisional Sr Mgmt mapping receives a separate sensitivity check. No hidden generator values contribute to the results.</a:t>
            </a:r>
          </a:p>
          <a:p xmlns:a="http://schemas.openxmlformats.org/drawingml/2006/main">
            <a:r>
              <a:t/>
            </a:r>
          </a:p>
          <a:p xmlns:a="http://schemas.openxmlformats.org/drawingml/2006/main">
            <a:r>
              <a:t>Project sources: data/curated/quality_summary.json; docs/requirements-and-decisions.md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3:45-5:15 (90 seconds)</a:t>
            </a:r>
          </a:p>
          <a:p xmlns:a="http://schemas.openxmlformats.org/drawingml/2006/main">
            <a:r>
              <a:t/>
            </a:r>
          </a:p>
          <a:p xmlns:a="http://schemas.openxmlformats.org/drawingml/2006/main">
            <a:r>
              <a:t>Walk through the retention definition. The hiring objective period runs from 2021 through 2025. The snapshot is 31 December 2025. A person must have had enough time to reach the relevant calendar-month anniversary to enter the denominator. Termination on the anniversary counts as retained under the selected inclusive boundary rule. Someone with an immature observation remains pending even if an early departure is already known, preventing an asymmetric denominator. Senior means Senior Leader including the provisional Sr Mgmt mapping. Excluding that mapping produces 203 retained from 259 eligible hires, or 78.38 percent, so the shortfall persists.</a:t>
            </a:r>
          </a:p>
          <a:p xmlns:a="http://schemas.openxmlformats.org/drawingml/2006/main">
            <a:r>
              <a:t/>
            </a:r>
          </a:p>
          <a:p xmlns:a="http://schemas.openxmlformats.org/drawingml/2006/main">
            <a:r>
              <a:t>Project sources: analysis/new_hire_6m_summary.json; analysis/senior_hire_12m_summary.json; docs/requirements-and-decisions.md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5:15-6:30 (75 seconds)</a:t>
            </a:r>
          </a:p>
          <a:p xmlns:a="http://schemas.openxmlformats.org/drawingml/2006/main">
            <a:r>
              <a:t/>
            </a:r>
          </a:p>
          <a:p xmlns:a="http://schemas.openxmlformats.org/drawingml/2006/main">
            <a:r>
              <a:t>The turnover window is 1 January through 31 December 2025. Its denominator comes from 586,744 employee-days divided by 365, giving an unrounded average daily headcount of about 1,607.5178. The displayed 1,607.52 is rounded for reading. It is not the count of all people who contributed during the year. The numerator contains 82 confirmed regretted exits. Treating the two potentially regretted unknown departures as regretted produces an upper classification scenario of 84 exits and 5.23 percent. This is a classification sensitivity scenario, not a confidence interval.</a:t>
            </a:r>
          </a:p>
          <a:p xmlns:a="http://schemas.openxmlformats.org/drawingml/2006/main">
            <a:r>
              <a:t/>
            </a:r>
          </a:p>
          <a:p xmlns:a="http://schemas.openxmlformats.org/drawingml/2006/main">
            <a:r>
              <a:t>Project sources: analysis/regretted_turnover_summary.json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6:30-8:00 (90 seconds)</a:t>
            </a:r>
          </a:p>
          <a:p xmlns:a="http://schemas.openxmlformats.org/drawingml/2006/main">
            <a:r>
              <a:t/>
            </a:r>
          </a:p>
          <a:p xmlns:a="http://schemas.openxmlformats.org/drawingml/2006/main">
            <a:r>
              <a:t>Demonstrate the HTML dashboard for about one minute, or describe these steps if a live demo is unavailable. First show the company-wide KPI cards. Change the retention measure to senior twelve-month retention and choose 2025. The user-provided screenshot confirms the result is zero mature hires and Unavailable, rather than a zero retention rate. Explain that all 49 senior hires in 2025 remain pending at this snapshot. Restore all years, then show the country comparison and an economic signal. The economic panel respects measure, country and hire year but includes all business units, as its note states. The coverage selector uses the full metric population independently of cohort filters.</a:t>
            </a:r>
          </a:p>
          <a:p xmlns:a="http://schemas.openxmlformats.org/drawingml/2006/main">
            <a:r>
              <a:t/>
            </a:r>
          </a:p>
          <a:p xmlns:a="http://schemas.openxmlformats.org/drawingml/2006/main">
            <a:r>
              <a:t>Project sources: dashboard/template.html; docs/dashboard-browser-qa.md; analysis/senior_hire_12m_summary.json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8:00-9:15 (75 seconds)</a:t>
            </a:r>
          </a:p>
          <a:p xmlns:a="http://schemas.openxmlformats.org/drawingml/2006/main">
            <a:r>
              <a:t/>
            </a:r>
          </a:p>
          <a:p xmlns:a="http://schemas.openxmlformats.org/drawingml/2006/main">
            <a:r>
              <a:t>Explain the difference between reference period and release availability. A number describing an earlier month can still have been published after the hire date, so the join checks both dates. Same-day releases are excluded by the strict rule. Retention uses the hire date as its cutoff. Turnover uses the start of its annual window. Each joined value retains its source period and vintage. Age limits exclude stale observations. Annual CPI remains annual rather than being expanded into invented monthly measurements. Saved source evidence and metadata allow the offline pipeline to replay the selection.</a:t>
            </a:r>
          </a:p>
          <a:p xmlns:a="http://schemas.openxmlformats.org/drawingml/2006/main">
            <a:r>
              <a:t/>
            </a:r>
          </a:p>
          <a:p xmlns:a="http://schemas.openxmlformats.org/drawingml/2006/main">
            <a:r>
              <a:t>Project sources: docs/historical-evidence-and-flow.md; docs/requirements-and-decisions.md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9:15-10:30 (75 seconds)</a:t>
            </a:r>
          </a:p>
          <a:p xmlns:a="http://schemas.openxmlformats.org/drawingml/2006/main">
            <a:r>
              <a:t/>
            </a:r>
          </a:p>
          <a:p xmlns:a="http://schemas.openxmlformats.org/drawingml/2006/main">
            <a:r>
              <a:t>The matched population depends on the indicator. Unemployment has 1,092 matches, five missing countries, 222 missing-evidence cases and 494 stale cases. CPI matches 1,808, leaving only the five missing countries. The supplementary vacancy series matches 1,408, with five missing countries, 279 missing-evidence cases and 121 stale cases. B–F covers industry and construction. It does not represent every workforce sector. The preferred broader B–N series has no verified historical matches and is not substituted silently. Coverage affects contextual analysis, while headline retention still uses the full eligible population.</a:t>
            </a:r>
          </a:p>
          <a:p xmlns:a="http://schemas.openxmlformats.org/drawingml/2006/main">
            <a:r>
              <a:t/>
            </a:r>
          </a:p>
          <a:p xmlns:a="http://schemas.openxmlformats.org/drawingml/2006/main">
            <a:r>
              <a:t>Project sources: analysis/metric_external_coverage.md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10:30-11:45 (75 seconds)</a:t>
            </a:r>
          </a:p>
          <a:p xmlns:a="http://schemas.openxmlformats.org/drawingml/2006/main">
            <a:r>
              <a:t/>
            </a:r>
          </a:p>
          <a:p xmlns:a="http://schemas.openxmlformats.org/drawingml/2006/main">
            <a:r>
              <a:t>Read these as descriptive correlations, not causal effects or statistical significance. The unemployment analysis has 72 country-quarter cohorts. Restricting to cohorts with at least ten hires changes its correlation to minus 0.071. The vacancy correlation changes sign to plus 0.054 under that check. CPI uses 30 country-year cohorts and retains its annual frequency. Reused source periods mean cohort counts are not independent economic samples. Country composition, calendar trends and selection remain possible explanations. All senior unemployment and vacancy cohorts have fewer than ten matched hires. One turnover window cannot support a credible repeated-period relationship analysis.</a:t>
            </a:r>
          </a:p>
          <a:p xmlns:a="http://schemas.openxmlformats.org/drawingml/2006/main">
            <a:r>
              <a:t/>
            </a:r>
          </a:p>
          <a:p xmlns:a="http://schemas.openxmlformats.org/drawingml/2006/main">
            <a:r>
              <a:t>Project sources: analysis/association_analysis.md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11:45-12:45 (60 seconds)</a:t>
            </a:r>
          </a:p>
          <a:p xmlns:a="http://schemas.openxmlformats.org/drawingml/2006/main">
            <a:r>
              <a:t/>
            </a:r>
          </a:p>
          <a:p xmlns:a="http://schemas.openxmlformats.org/drawingml/2006/main">
            <a:r>
              <a:t>Explain the actual implementation clearly. Python code handles cleaning, metric eligibility, external parsing and temporal matching. SQLite reporting views reconcile the results, and the builder embeds them into a standalone HTML dashboard. The dashboard template is source code, and analysis/dashboard.html is generated output. Acquisition tools are separate from deterministic offline processing. The pipeline entry point coordinates the work. Existing checks include Python tests, SQL reconciliation, saved-input hashes, repeat-output verification and a simulated DOM dashboard harness. User screenshots provide additional visual evidence. Do not describe the simulated DOM as a complete browser accessibility test.</a:t>
            </a:r>
          </a:p>
          <a:p xmlns:a="http://schemas.openxmlformats.org/drawingml/2006/main">
            <a:r>
              <a:t/>
            </a:r>
          </a:p>
          <a:p xmlns:a="http://schemas.openxmlformats.org/drawingml/2006/main">
            <a:r>
              <a:t>Project sources: docs/code-structure.md; analysis/pipeline_manifest.json; docs/dashboard-browser-qa.md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12:45-14:00 (75 seconds)</a:t>
            </a:r>
          </a:p>
          <a:p xmlns:a="http://schemas.openxmlformats.org/drawingml/2006/main">
            <a:r>
              <a:t/>
            </a:r>
          </a:p>
          <a:p xmlns:a="http://schemas.openxmlformats.org/drawingml/2006/main">
            <a:r>
              <a:t>This slide is a proposal, not a record of deployed cloud services. In the proposed architecture, ADF coordinates acquisition and processing. Bronze storage retains source bytes and metadata. Databricks silver tables contain validated workforce data and economic vintages, and gold tables contain metrics and coverage. A release registry keeps one consistent approved run. Failed checks preserve the previously published release. Databricks SQL and Power BI form a proposed consumption path. Entra identities, Key Vault, Unity Catalog and monitoring support access and operations. No Azure, Databricks or Power BI deployment has been provisioned or tested for this project.</a:t>
            </a:r>
          </a:p>
          <a:p xmlns:a="http://schemas.openxmlformats.org/drawingml/2006/main">
            <a:r>
              <a:t/>
            </a:r>
          </a:p>
          <a:p xmlns:a="http://schemas.openxmlformats.org/drawingml/2006/main">
            <a:r>
              <a:t>Project sources: docs/production-architecture.md</a:t>
            </a:r>
          </a:p>
          <a:p xmlns:a="http://schemas.openxmlformats.org/drawingml/2006/main">
            <a:r>
              <a:t>AI-generated illustrative data center. It does not depict deployed project infrastructure.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14:00-15:00 (60 seconds)</a:t>
            </a:r>
          </a:p>
          <a:p xmlns:a="http://schemas.openxmlformats.org/drawingml/2006/main">
            <a:r>
              <a:t/>
            </a:r>
          </a:p>
          <a:p xmlns:a="http://schemas.openxmlformats.org/drawingml/2006/main">
            <a:r>
              <a:t>Close by returning to the main result. Senior retention is the priority for further investigation, while the other two headline objectives meet their thresholds in this synthetic data. A real investigation would need internal evidence about onboarding, roles, teams and departures rather than assuming the macroeconomic signals explain the gap. Ask data owners to resolve missing countries and unknown classifications through traceable corrections. Improve historical source coverage and collect repeated turnover windows before extending the analysis. Confirm the eligibility rules and provisional seniority mapping before production deployment. The fifteen-minute walkthrough ends here, with questions afterward.</a:t>
            </a:r>
          </a:p>
          <a:p xmlns:a="http://schemas.openxmlformats.org/drawingml/2006/main">
            <a:r>
              <a:t/>
            </a:r>
          </a:p>
          <a:p xmlns:a="http://schemas.openxmlformats.org/drawingml/2006/main">
            <a:r>
              <a:t>Project sources: docs/requirements-and-decisions.md; analysis/association_analysis.md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0886ba927da476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d45b77d781f4e11" /><Relationship Type="http://schemas.openxmlformats.org/officeDocument/2006/relationships/slideLayout" Target="/ppt/slideLayouts/slideLayout1.xml" Id="Rf17e722d385844b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17e722d385844b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02195963a8f4b10" /><Relationship Type="http://schemas.openxmlformats.org/officeDocument/2006/relationships/image" Target="/ppt/media/image.png" Id="Rd8c9e07c4670403e" /><Relationship Type="http://schemas.openxmlformats.org/officeDocument/2006/relationships/notesSlide" Target="/ppt/notesSlides/notesSlide1.xml" Id="R72a93d9ff05c484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a04e85172194d68" /><Relationship Type="http://schemas.openxmlformats.org/officeDocument/2006/relationships/chart" Target="/ppt/slides/charts/chart1.xml" Id="R1eb27753cc5b4993" /><Relationship Type="http://schemas.openxmlformats.org/officeDocument/2006/relationships/notesSlide" Target="/ppt/notesSlides/notesSlide2.xml" Id="R6aa6605bdfa74f3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8c8159336984979" /><Relationship Type="http://schemas.openxmlformats.org/officeDocument/2006/relationships/notesSlide" Target="/ppt/notesSlides/notesSlide3.xml" Id="R777560e2a2cd4ce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bf49d6609024a04" /><Relationship Type="http://schemas.openxmlformats.org/officeDocument/2006/relationships/notesSlide" Target="/ppt/notesSlides/notesSlide4.xml" Id="Rc30010dfa235421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d1911692b934b73" /><Relationship Type="http://schemas.openxmlformats.org/officeDocument/2006/relationships/chart" Target="/ppt/slides/charts/chart2.xml" Id="Raea5148550104dc5" /><Relationship Type="http://schemas.openxmlformats.org/officeDocument/2006/relationships/notesSlide" Target="/ppt/notesSlides/notesSlide5.xml" Id="R8334d7097fd24b3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a8e573a63334d90" /><Relationship Type="http://schemas.openxmlformats.org/officeDocument/2006/relationships/notesSlide" Target="/ppt/notesSlides/notesSlide6.xml" Id="R7011c4548e01449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fefcbc5294f4d1c" /><Relationship Type="http://schemas.openxmlformats.org/officeDocument/2006/relationships/notesSlide" Target="/ppt/notesSlides/notesSlide7.xml" Id="R87f1d39eb0f24b4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ed8bf77cb844fb8" /><Relationship Type="http://schemas.openxmlformats.org/officeDocument/2006/relationships/chart" Target="/ppt/slides/charts/chart3.xml" Id="R75f01c0be1794ce3" /><Relationship Type="http://schemas.openxmlformats.org/officeDocument/2006/relationships/notesSlide" Target="/ppt/notesSlides/notesSlide8.xml" Id="R1abc3b8fb7a4431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21ce6c360474bfc" /><Relationship Type="http://schemas.openxmlformats.org/officeDocument/2006/relationships/chart" Target="/ppt/slides/charts/chart4.xml" Id="R30cf998fc4fd4113" /><Relationship Type="http://schemas.openxmlformats.org/officeDocument/2006/relationships/notesSlide" Target="/ppt/notesSlides/notesSlide9.xml" Id="R186e217a82fc46c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2bd1b5bee0349a4" /><Relationship Type="http://schemas.openxmlformats.org/officeDocument/2006/relationships/notesSlide" Target="/ppt/notesSlides/notesSlide10.xml" Id="Rbba719b95633443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56c3ff1a9ca47fd" /><Relationship Type="http://schemas.openxmlformats.org/officeDocument/2006/relationships/image" Target="/ppt/media/image2.png" Id="R847f384a7cf04de9" /><Relationship Type="http://schemas.openxmlformats.org/officeDocument/2006/relationships/notesSlide" Target="/ppt/notesSlides/notesSlide11.xml" Id="Rb8718605bf974f5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f58ec28372b4dca" /><Relationship Type="http://schemas.openxmlformats.org/officeDocument/2006/relationships/notesSlide" Target="/ppt/notesSlides/notesSlide12.xml" Id="Rc60943e7796d40a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Observed</c:v>
          </c:tx>
          <c:spPr>
            <a:solidFill xmlns:a="http://schemas.openxmlformats.org/drawingml/2006/main">
              <a:srgbClr val="247988"/>
            </a:solidFill>
          </c:spPr>
          <c:cat>
            <c:strRef>
              <c:f>'Chart Data'!$A$2:$A$3</c:f>
              <c:strCache>
                <c:ptCount val="2"/>
                <c:pt idx="0">
                  <c:v>Six-month retention</c:v>
                </c:pt>
                <c:pt idx="1">
                  <c:v>Senior twelve-month</c:v>
                </c:pt>
              </c:strCache>
            </c:strRef>
          </c:cat>
          <c:val>
            <c:numRef>
              <c:f>'Chart Data'!$B$2:$B$3</c:f>
              <c:numCache>
                <c:formatCode>0.00%</c:formatCode>
                <c:ptCount val="2"/>
                <c:pt idx="0">
                  <c:v>0.8715</c:v>
                </c:pt>
                <c:pt idx="1">
                  <c:v>0.7857</c:v>
                </c:pt>
              </c:numCache>
            </c:numRef>
          </c:val>
        </c:ser>
        <c:ser>
          <c:idx val="1"/>
          <c:order val="1"/>
          <c:tx>
            <c:v>Target</c:v>
          </c:tx>
          <c:spPr>
            <a:solidFill xmlns:a="http://schemas.openxmlformats.org/drawingml/2006/main">
              <a:srgbClr val="B7C8CB"/>
            </a:solidFill>
          </c:spPr>
          <c:cat>
            <c:strRef>
              <c:f>'Chart Data'!$C$2:$C$3</c:f>
              <c:strCache>
                <c:ptCount val="2"/>
                <c:pt idx="0">
                  <c:v>Six-month retention</c:v>
                </c:pt>
                <c:pt idx="1">
                  <c:v>Senior twelve-month</c:v>
                </c:pt>
              </c:strCache>
            </c:strRef>
          </c:cat>
          <c:val>
            <c:numRef>
              <c:f>'Chart Data'!$D$2:$D$3</c:f>
              <c:numCache>
                <c:formatCode>0.00%</c:formatCode>
                <c:ptCount val="2"/>
                <c:pt idx="0">
                  <c:v>0.86</c:v>
                </c:pt>
                <c:pt idx="1">
                  <c:v>0.9</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2303D"/>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D9DFDF"/>
              </a:solidFill>
            </a:ln>
          </c:spPr>
        </c:majorGridlines>
        <c:numFmt formatCode="0.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9717B"/>
                </a:solidFill>
                <a:latin typeface="Arial"/>
                <a:ea typeface="Arial"/>
                <a:cs typeface="Arial"/>
              </a:defRPr>
            </a:pPr>
          </a:p>
        </c:txPr>
        <c:crossAx val="48672768"/>
      </c:catAx>
      <c:valAx>
        <c:axId val="48672768"/>
        <c:scaling>
          <c:orientation val="minMax"/>
          <c:max val="1"/>
          <c:min val="0"/>
        </c:scaling>
        <c:delete val="0"/>
        <c:axPos val="b"/>
        <c:numFmt formatCode="0.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2303D"/>
                </a:solidFill>
                <a:latin typeface="Arial"/>
                <a:ea typeface="Arial"/>
                <a:cs typeface="Arial"/>
              </a:defRPr>
            </a:pPr>
          </a:p>
        </c:txPr>
        <c:crossAx val="48650112"/>
        <c:crossBetween val="between"/>
      </c:valAx>
      <c:spPr>
        <a:solidFill xmlns:a="http://schemas.openxmlformats.org/drawingml/2006/main">
          <a:srgbClr val="F6F4E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2303D"/>
              </a:solidFill>
              <a:latin typeface="Arial"/>
              <a:ea typeface="Arial"/>
              <a:cs typeface="Arial"/>
            </a:defRPr>
          </a:pPr>
        </a:p>
      </c:txPr>
    </c:legend>
    <c:plotVisOnly val="1"/>
  </c:chart>
  <c:spPr>
    <a:solidFill xmlns:a="http://schemas.openxmlformats.org/drawingml/2006/main">
      <a:srgbClr val="F6F4E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Annual turnover</c:v>
          </c:tx>
          <c:spPr>
            <a:solidFill xmlns:a="http://schemas.openxmlformats.org/drawingml/2006/main">
              <a:srgbClr val="247988"/>
            </a:solidFill>
          </c:spPr>
          <c:dPt>
            <c:idx val="2"/>
            <c:invertIfNegative val="0"/>
            <c:spPr>
              <a:solidFill xmlns:a="http://schemas.openxmlformats.org/drawingml/2006/main">
                <a:srgbClr val="B37931"/>
              </a:solidFill>
            </c:spPr>
          </c:dPt>
          <c:cat>
            <c:strRef>
              <c:f>'Chart Data'!$A$2:$A$4</c:f>
              <c:strCache>
                <c:ptCount val="3"/>
                <c:pt idx="0">
                  <c:v>Confirmed exits</c:v>
                </c:pt>
                <c:pt idx="1">
                  <c:v>Including unknowns</c:v>
                </c:pt>
                <c:pt idx="2">
                  <c:v>Ceiling</c:v>
                </c:pt>
              </c:strCache>
            </c:strRef>
          </c:cat>
          <c:val>
            <c:numRef>
              <c:f>'Chart Data'!$B$2:$B$4</c:f>
              <c:numCache>
                <c:formatCode>0.00%</c:formatCode>
                <c:ptCount val="3"/>
                <c:pt idx="0">
                  <c:v>0.051</c:v>
                </c:pt>
                <c:pt idx="1">
                  <c:v>0.0523</c:v>
                </c:pt>
                <c:pt idx="2">
                  <c:v>0.075</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2303D"/>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D9DFDF"/>
              </a:solidFill>
            </a:ln>
          </c:spPr>
        </c:majorGridlines>
        <c:numFmt formatCode="0.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9717B"/>
                </a:solidFill>
                <a:latin typeface="Arial"/>
                <a:ea typeface="Arial"/>
                <a:cs typeface="Arial"/>
              </a:defRPr>
            </a:pPr>
          </a:p>
        </c:txPr>
        <c:crossAx val="48672768"/>
      </c:catAx>
      <c:valAx>
        <c:axId val="48672768"/>
        <c:scaling>
          <c:orientation val="minMax"/>
          <c:max val="0.1"/>
          <c:min val="0"/>
        </c:scaling>
        <c:delete val="0"/>
        <c:axPos val="b"/>
        <c:numFmt formatCode="0.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2303D"/>
                </a:solidFill>
                <a:latin typeface="Arial"/>
                <a:ea typeface="Arial"/>
                <a:cs typeface="Arial"/>
              </a:defRPr>
            </a:pPr>
          </a:p>
        </c:txPr>
        <c:crossAx val="48650112"/>
        <c:crossBetween val="between"/>
      </c:valAx>
      <c:spPr>
        <a:solidFill xmlns:a="http://schemas.openxmlformats.org/drawingml/2006/main">
          <a:srgbClr val="F6F4EF"/>
        </a:solidFill>
      </c:spPr>
    </c:plotArea>
    <c:plotVisOnly val="1"/>
  </c:chart>
  <c:spPr>
    <a:solidFill xmlns:a="http://schemas.openxmlformats.org/drawingml/2006/main">
      <a:srgbClr val="F6F4E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Matched share</c:v>
          </c:tx>
          <c:spPr>
            <a:solidFill xmlns:a="http://schemas.openxmlformats.org/drawingml/2006/main">
              <a:srgbClr val="247988"/>
            </a:solidFill>
          </c:spPr>
          <c:cat>
            <c:strRef>
              <c:f>'Chart Data'!$A$2:$A$4</c:f>
              <c:strCache>
                <c:ptCount val="3"/>
                <c:pt idx="0">
                  <c:v>Unemployment</c:v>
                </c:pt>
                <c:pt idx="1">
                  <c:v>Annual CPI inflation</c:v>
                </c:pt>
                <c:pt idx="2">
                  <c:v>Vacancies, B-F</c:v>
                </c:pt>
              </c:strCache>
            </c:strRef>
          </c:cat>
          <c:val>
            <c:numRef>
              <c:f>'Chart Data'!$B$2:$B$4</c:f>
              <c:numCache>
                <c:formatCode>0.0%</c:formatCode>
                <c:ptCount val="3"/>
                <c:pt idx="0">
                  <c:v>0.602</c:v>
                </c:pt>
                <c:pt idx="1">
                  <c:v>0.997</c:v>
                </c:pt>
                <c:pt idx="2">
                  <c:v>0.777</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2303D"/>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D9DFDF"/>
              </a:solidFill>
            </a:ln>
          </c:spPr>
        </c:majorGridlines>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9717B"/>
                </a:solidFill>
                <a:latin typeface="Arial"/>
                <a:ea typeface="Arial"/>
                <a:cs typeface="Arial"/>
              </a:defRPr>
            </a:pPr>
          </a:p>
        </c:txPr>
        <c:crossAx val="48672768"/>
      </c:catAx>
      <c:valAx>
        <c:axId val="48672768"/>
        <c:scaling>
          <c:orientation val="minMax"/>
          <c:max val="1"/>
          <c:min val="0"/>
        </c:scaling>
        <c:delete val="0"/>
        <c:axPos val="b"/>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2303D"/>
                </a:solidFill>
                <a:latin typeface="Arial"/>
                <a:ea typeface="Arial"/>
                <a:cs typeface="Arial"/>
              </a:defRPr>
            </a:pPr>
          </a:p>
        </c:txPr>
        <c:crossAx val="48650112"/>
        <c:crossBetween val="between"/>
      </c:valAx>
      <c:spPr>
        <a:solidFill xmlns:a="http://schemas.openxmlformats.org/drawingml/2006/main">
          <a:srgbClr val="F6F4EF"/>
        </a:solidFill>
      </c:spPr>
    </c:plotArea>
    <c:plotVisOnly val="1"/>
  </c:chart>
  <c:spPr>
    <a:solidFill xmlns:a="http://schemas.openxmlformats.org/drawingml/2006/main">
      <a:srgbClr val="F6F4E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Pooled correlation</c:v>
          </c:tx>
          <c:spPr>
            <a:solidFill xmlns:a="http://schemas.openxmlformats.org/drawingml/2006/main">
              <a:srgbClr val="247988"/>
            </a:solidFill>
          </c:spPr>
          <c:invertIfNegative val="0"/>
          <c:cat>
            <c:strRef>
              <c:f>'Chart Data'!$A$2:$A$4</c:f>
              <c:strCache>
                <c:ptCount val="3"/>
                <c:pt idx="0">
                  <c:v>Unemployment</c:v>
                </c:pt>
                <c:pt idx="1">
                  <c:v>Annual CPI inflation</c:v>
                </c:pt>
                <c:pt idx="2">
                  <c:v>Vacancies, B-F</c:v>
                </c:pt>
              </c:strCache>
            </c:strRef>
          </c:cat>
          <c:val>
            <c:numRef>
              <c:f>'Chart Data'!$B$2:$B$4</c:f>
              <c:numCache>
                <c:formatCode>0.000</c:formatCode>
                <c:ptCount val="3"/>
                <c:pt idx="0">
                  <c:v>-0.123</c:v>
                </c:pt>
                <c:pt idx="1">
                  <c:v>0.162</c:v>
                </c:pt>
                <c:pt idx="2">
                  <c:v>-0.009</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2303D"/>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D9DFDF"/>
              </a:solidFill>
            </a:ln>
          </c:spPr>
        </c:majorGridlines>
        <c:numFmt formatCode="0.0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9717B"/>
                </a:solidFill>
                <a:latin typeface="Arial"/>
                <a:ea typeface="Arial"/>
                <a:cs typeface="Arial"/>
              </a:defRPr>
            </a:pPr>
          </a:p>
        </c:txPr>
        <c:crossAx val="48672768"/>
      </c:catAx>
      <c:valAx>
        <c:axId val="48672768"/>
        <c:scaling>
          <c:orientation val="minMax"/>
          <c:max val="1"/>
          <c:min val="-1"/>
        </c:scaling>
        <c:delete val="0"/>
        <c:axPos val="b"/>
        <c:numFmt formatCode="0.0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2303D"/>
                </a:solidFill>
                <a:latin typeface="Arial"/>
                <a:ea typeface="Arial"/>
                <a:cs typeface="Arial"/>
              </a:defRPr>
            </a:pPr>
          </a:p>
        </c:txPr>
        <c:crossAx val="48650112"/>
        <c:crossBetween val="between"/>
      </c:valAx>
      <c:spPr>
        <a:solidFill xmlns:a="http://schemas.openxmlformats.org/drawingml/2006/main">
          <a:srgbClr val="F6F4EF"/>
        </a:solidFill>
      </c:spPr>
    </c:plotArea>
    <c:plotVisOnly val="1"/>
  </c:chart>
  <c:spPr>
    <a:solidFill xmlns:a="http://schemas.openxmlformats.org/drawingml/2006/main">
      <a:srgbClr val="F6F4E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2303D"/>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d8c9e07c4670403e"/>
          <a:srcRect xmlns:a="http://schemas.openxmlformats.org/drawingml/2006/main" l="21296" t="0" r="21296" b="0"/>
          <a:stretch xmlns:a="http://schemas.openxmlformats.org/drawingml/2006/main">
            <a:fillRect l="0" t="0" r="0" b="0"/>
          </a:stretch>
        </p:blipFill>
        <p:spPr>
          <a:xfrm xmlns:a="http://schemas.openxmlformats.org/drawingml/2006/main">
            <a:off x="6286500" y="0"/>
            <a:ext cx="59055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4975BB9-C689-4001-9F89-E6DD5BC5E761}"/>
              </a:ext>
            </a:extLst>
          </p:cNvPr>
          <p:cNvSpPr>
            <a:spLocks xmlns:a="http://schemas.openxmlformats.org/drawingml/2006/main" noGrp="1"/>
          </p:cNvSpPr>
          <p:nvPr/>
        </p:nvSpPr>
        <p:spPr>
          <a:xfrm xmlns:a="http://schemas.openxmlformats.org/drawingml/2006/main">
            <a:off x="609600" y="61912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A9D9D6"/>
                </a:solidFill>
                <a:latin typeface="Arial"/>
                <a:ea typeface="Arial"/>
                <a:cs typeface="Arial"/>
              </a:defRPr>
            </a:pPr>
            <a:r>
              <a:rPr sz="1650" b="1">
                <a:solidFill>
                  <a:srgbClr val="A9D9D6"/>
                </a:solidFill>
                <a:latin typeface="Arial"/>
                <a:ea typeface="Arial"/>
                <a:cs typeface="Arial"/>
              </a:rPr>
              <a:t>ASTERIA</a:t>
            </a:r>
          </a:p>
        </p:txBody>
      </p:sp>
      <p:sp>
        <p:nvSpPr>
          <p:cNvPr id="3" name="">
            <a:extLst xmlns:a="http://schemas.openxmlformats.org/drawingml/2006/main">
              <a:ext uri="{FF2B5EF4-FFF2-40B4-BE49-F238E27FC236}">
                <a16:creationId xmlns:a16="http://schemas.microsoft.com/office/drawing/2014/main" id="{CCDAEADA-E439-4B44-848F-1F49078B981F}"/>
              </a:ext>
            </a:extLst>
          </p:cNvPr>
          <p:cNvSpPr>
            <a:spLocks xmlns:a="http://schemas.openxmlformats.org/drawingml/2006/main" noGrp="1"/>
          </p:cNvSpPr>
          <p:nvPr/>
        </p:nvSpPr>
        <p:spPr>
          <a:xfrm xmlns:a="http://schemas.openxmlformats.org/drawingml/2006/main">
            <a:off x="609600" y="1952625"/>
            <a:ext cx="5429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250" b="1">
                <a:solidFill>
                  <a:srgbClr val="FFFFFF"/>
                </a:solidFill>
                <a:latin typeface="Arial"/>
                <a:ea typeface="Arial"/>
                <a:cs typeface="Arial"/>
              </a:defRPr>
            </a:pPr>
            <a:r>
              <a:rPr sz="5250" b="1">
                <a:solidFill>
                  <a:srgbClr val="FFFFFF"/>
                </a:solidFill>
                <a:latin typeface="Arial"/>
                <a:ea typeface="Arial"/>
                <a:cs typeface="Arial"/>
              </a:rPr>
              <a:t>Workforce</a:t>
            </a:r>
          </a:p>
          <a:p xmlns:a="http://schemas.openxmlformats.org/drawingml/2006/main">
            <a:pPr>
              <a:defRPr sz="5250" b="1">
                <a:solidFill>
                  <a:srgbClr val="FFFFFF"/>
                </a:solidFill>
                <a:latin typeface="Arial"/>
                <a:ea typeface="Arial"/>
                <a:cs typeface="Arial"/>
              </a:defRPr>
            </a:pPr>
            <a:r>
              <a:rPr sz="5250" b="1">
                <a:solidFill>
                  <a:srgbClr val="FFFFFF"/>
                </a:solidFill>
                <a:latin typeface="Arial"/>
                <a:ea typeface="Arial"/>
                <a:cs typeface="Arial"/>
              </a:rPr>
              <a:t>retention</a:t>
            </a:r>
          </a:p>
        </p:txBody>
      </p:sp>
      <p:sp>
        <p:nvSpPr>
          <p:cNvPr id="4" name="">
            <a:extLst xmlns:a="http://schemas.openxmlformats.org/drawingml/2006/main">
              <a:ext uri="{FF2B5EF4-FFF2-40B4-BE49-F238E27FC236}">
                <a16:creationId xmlns:a16="http://schemas.microsoft.com/office/drawing/2014/main" id="{AC60A3F0-FF7E-4BA8-9CBE-B7074DA2FEA3}"/>
              </a:ext>
            </a:extLst>
          </p:cNvPr>
          <p:cNvSpPr>
            <a:spLocks xmlns:a="http://schemas.openxmlformats.org/drawingml/2006/main" noGrp="1"/>
          </p:cNvSpPr>
          <p:nvPr/>
        </p:nvSpPr>
        <p:spPr>
          <a:xfrm xmlns:a="http://schemas.openxmlformats.org/drawingml/2006/main">
            <a:off x="609600" y="423862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Results and evidence</a:t>
            </a:r>
          </a:p>
        </p:txBody>
      </p:sp>
      <p:sp>
        <p:nvSpPr>
          <p:cNvPr id="5" name="">
            <a:extLst xmlns:a="http://schemas.openxmlformats.org/drawingml/2006/main">
              <a:ext uri="{FF2B5EF4-FFF2-40B4-BE49-F238E27FC236}">
                <a16:creationId xmlns:a16="http://schemas.microsoft.com/office/drawing/2014/main" id="{95C02CC0-D9E4-492D-9716-D818AB0A3FDC}"/>
              </a:ext>
            </a:extLst>
          </p:cNvPr>
          <p:cNvSpPr>
            <a:spLocks xmlns:a="http://schemas.openxmlformats.org/drawingml/2006/main" noGrp="1"/>
          </p:cNvSpPr>
          <p:nvPr/>
        </p:nvSpPr>
        <p:spPr>
          <a:xfrm xmlns:a="http://schemas.openxmlformats.org/drawingml/2006/main">
            <a:off x="609600" y="5334000"/>
            <a:ext cx="4953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9D1D7"/>
                </a:solidFill>
                <a:latin typeface="Arial"/>
                <a:ea typeface="Arial"/>
                <a:cs typeface="Arial"/>
              </a:defRPr>
            </a:pPr>
            <a:r>
              <a:rPr sz="1800" b="0">
                <a:solidFill>
                  <a:srgbClr val="B9D1D7"/>
                </a:solidFill>
                <a:latin typeface="Arial"/>
                <a:ea typeface="Arial"/>
                <a:cs typeface="Arial"/>
              </a:rPr>
              <a:t>31 December 2025 snapshot</a:t>
            </a:r>
          </a:p>
          <a:p xmlns:a="http://schemas.openxmlformats.org/drawingml/2006/main">
            <a:pPr>
              <a:defRPr sz="1800" b="0">
                <a:solidFill>
                  <a:srgbClr val="B9D1D7"/>
                </a:solidFill>
                <a:latin typeface="Arial"/>
                <a:ea typeface="Arial"/>
                <a:cs typeface="Arial"/>
              </a:defRPr>
            </a:pPr>
            <a:r>
              <a:rPr sz="1800" b="0">
                <a:solidFill>
                  <a:srgbClr val="B9D1D7"/>
                </a:solidFill>
                <a:latin typeface="Arial"/>
                <a:ea typeface="Arial"/>
                <a:cs typeface="Arial"/>
              </a:rPr>
              <a:t>Synthetic workforce data</a:t>
            </a:r>
          </a:p>
        </p:txBody>
      </p:sp>
    </p:spTree>
    <p:extLst>
      <p:ext uri="{BB962C8B-B14F-4D97-AF65-F5344CB8AC3E}">
        <p14:creationId xmlns:p14="http://schemas.microsoft.com/office/powerpoint/2010/main" val="1272180091"/>
      </p:ext>
    </p:extLst>
  </p:cSld>
</p:sld>
</file>

<file path=ppt/slides/slide2.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9549DF3-0D7D-4268-A86A-11CD9A0128CA}"/>
              </a:ext>
            </a:extLst>
          </p:cNvPr>
          <p:cNvSpPr>
            <a:spLocks xmlns:a="http://schemas.openxmlformats.org/drawingml/2006/main" noGrp="1"/>
          </p:cNvSpPr>
          <p:nvPr/>
        </p:nvSpPr>
        <p:spPr>
          <a:xfrm xmlns:a="http://schemas.openxmlformats.org/drawingml/2006/main">
            <a:off x="609600" y="52387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303D"/>
                </a:solidFill>
                <a:latin typeface="Arial"/>
                <a:ea typeface="Arial"/>
                <a:cs typeface="Arial"/>
              </a:defRPr>
            </a:pPr>
            <a:r>
              <a:rPr sz="3450" b="1">
                <a:solidFill>
                  <a:srgbClr val="12303D"/>
                </a:solidFill>
                <a:latin typeface="Arial"/>
                <a:ea typeface="Arial"/>
                <a:cs typeface="Arial"/>
              </a:rPr>
              <a:t>Senior retention falls below target</a:t>
            </a:r>
          </a:p>
        </p:txBody>
      </p:sp>
      <p:graphicFrame>
        <p:nvGraphicFramePr>
          <p:cNvPr id="8" name="Chart"/>
          <p:cNvGraphicFramePr/>
          <p:nvPr/>
        </p:nvGraphicFramePr>
        <p:xfrm>
          <a:off xmlns:a="http://schemas.openxmlformats.org/drawingml/2006/main" x="609600" y="1809750"/>
          <a:ext xmlns:a="http://schemas.openxmlformats.org/drawingml/2006/main" cx="7810500" cy="3714750"/>
        </p:xfrm>
        <a:graphic xmlns:a="http://schemas.openxmlformats.org/drawingml/2006/main">
          <a:graphicData uri="http://schemas.openxmlformats.org/drawingml/2006/chart">
            <c:chart xmlns:r="http://schemas.openxmlformats.org/officeDocument/2006/relationships" xmlns:c="http://schemas.openxmlformats.org/drawingml/2006/chart" r:id="R1eb27753cc5b4993"/>
          </a:graphicData>
        </a:graphic>
      </p:graphicFrame>
      <p:sp>
        <p:nvSpPr>
          <p:cNvPr id="3" name="">
            <a:extLst xmlns:a="http://schemas.openxmlformats.org/drawingml/2006/main">
              <a:ext uri="{FF2B5EF4-FFF2-40B4-BE49-F238E27FC236}">
                <a16:creationId xmlns:a16="http://schemas.microsoft.com/office/drawing/2014/main" id="{C13E7532-8956-47D9-92AE-D34045CEBDF2}"/>
              </a:ext>
            </a:extLst>
          </p:cNvPr>
          <p:cNvSpPr>
            <a:spLocks xmlns:a="http://schemas.openxmlformats.org/drawingml/2006/main" noGrp="1"/>
          </p:cNvSpPr>
          <p:nvPr/>
        </p:nvSpPr>
        <p:spPr>
          <a:xfrm xmlns:a="http://schemas.openxmlformats.org/drawingml/2006/main">
            <a:off x="9048750" y="2238375"/>
            <a:ext cx="266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B37931"/>
                </a:solidFill>
                <a:latin typeface="Arial"/>
                <a:ea typeface="Arial"/>
                <a:cs typeface="Arial"/>
              </a:defRPr>
            </a:pPr>
            <a:r>
              <a:rPr sz="4800" b="1">
                <a:solidFill>
                  <a:srgbClr val="B37931"/>
                </a:solidFill>
                <a:latin typeface="Arial"/>
                <a:ea typeface="Arial"/>
                <a:cs typeface="Arial"/>
              </a:rPr>
              <a:t>11.43</a:t>
            </a:r>
          </a:p>
        </p:txBody>
      </p:sp>
      <p:sp>
        <p:nvSpPr>
          <p:cNvPr id="4" name="">
            <a:extLst xmlns:a="http://schemas.openxmlformats.org/drawingml/2006/main">
              <a:ext uri="{FF2B5EF4-FFF2-40B4-BE49-F238E27FC236}">
                <a16:creationId xmlns:a16="http://schemas.microsoft.com/office/drawing/2014/main" id="{A0049D0C-46AE-496B-BAF7-EA3652E76A2F}"/>
              </a:ext>
            </a:extLst>
          </p:cNvPr>
          <p:cNvSpPr>
            <a:spLocks xmlns:a="http://schemas.openxmlformats.org/drawingml/2006/main" noGrp="1"/>
          </p:cNvSpPr>
          <p:nvPr/>
        </p:nvSpPr>
        <p:spPr>
          <a:xfrm xmlns:a="http://schemas.openxmlformats.org/drawingml/2006/main">
            <a:off x="9048750" y="3190875"/>
            <a:ext cx="2476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2303D"/>
                </a:solidFill>
                <a:latin typeface="Arial"/>
                <a:ea typeface="Arial"/>
                <a:cs typeface="Arial"/>
              </a:defRPr>
            </a:pPr>
            <a:r>
              <a:rPr sz="1875" b="0">
                <a:solidFill>
                  <a:srgbClr val="12303D"/>
                </a:solidFill>
                <a:latin typeface="Arial"/>
                <a:ea typeface="Arial"/>
                <a:cs typeface="Arial"/>
              </a:rPr>
              <a:t>percentage points</a:t>
            </a:r>
          </a:p>
          <a:p xmlns:a="http://schemas.openxmlformats.org/drawingml/2006/main">
            <a:pPr>
              <a:defRPr sz="1875" b="0">
                <a:solidFill>
                  <a:srgbClr val="12303D"/>
                </a:solidFill>
                <a:latin typeface="Arial"/>
                <a:ea typeface="Arial"/>
                <a:cs typeface="Arial"/>
              </a:defRPr>
            </a:pPr>
            <a:r>
              <a:rPr sz="1875" b="0">
                <a:solidFill>
                  <a:srgbClr val="12303D"/>
                </a:solidFill>
                <a:latin typeface="Arial"/>
                <a:ea typeface="Arial"/>
                <a:cs typeface="Arial"/>
              </a:rPr>
              <a:t>below the senior target</a:t>
            </a:r>
          </a:p>
        </p:txBody>
      </p:sp>
      <p:sp>
        <p:nvSpPr>
          <p:cNvPr id="5" name="">
            <a:extLst xmlns:a="http://schemas.openxmlformats.org/drawingml/2006/main">
              <a:ext uri="{FF2B5EF4-FFF2-40B4-BE49-F238E27FC236}">
                <a16:creationId xmlns:a16="http://schemas.microsoft.com/office/drawing/2014/main" id="{44542C87-47A0-4427-9703-0E9404EDDEA4}"/>
              </a:ext>
            </a:extLst>
          </p:cNvPr>
          <p:cNvSpPr>
            <a:spLocks xmlns:a="http://schemas.openxmlformats.org/drawingml/2006/main" noGrp="1"/>
          </p:cNvSpPr>
          <p:nvPr/>
        </p:nvSpPr>
        <p:spPr>
          <a:xfrm xmlns:a="http://schemas.openxmlformats.org/drawingml/2006/main">
            <a:off x="685800" y="5810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2303D"/>
                </a:solidFill>
                <a:latin typeface="Arial"/>
                <a:ea typeface="Arial"/>
                <a:cs typeface="Arial"/>
              </a:defRPr>
            </a:pPr>
            <a:r>
              <a:rPr sz="2025" b="0">
                <a:solidFill>
                  <a:srgbClr val="12303D"/>
                </a:solidFill>
                <a:latin typeface="Arial"/>
                <a:ea typeface="Arial"/>
                <a:cs typeface="Arial"/>
              </a:rPr>
              <a:t>Regretted turnover: 5.10% against a 7.50% ceiling</a:t>
            </a:r>
          </a:p>
        </p:txBody>
      </p:sp>
      <p:sp>
        <p:nvSpPr>
          <p:cNvPr id="6" name="">
            <a:extLst xmlns:a="http://schemas.openxmlformats.org/drawingml/2006/main">
              <a:ext uri="{FF2B5EF4-FFF2-40B4-BE49-F238E27FC236}">
                <a16:creationId xmlns:a16="http://schemas.microsoft.com/office/drawing/2014/main" id="{A033281B-1554-4D1E-908A-59BD3C3126A4}"/>
              </a:ext>
            </a:extLst>
          </p:cNvPr>
          <p:cNvSpPr>
            <a:spLocks xmlns:a="http://schemas.openxmlformats.org/drawingml/2006/main" noGrp="1"/>
          </p:cNvSpPr>
          <p:nvPr/>
        </p:nvSpPr>
        <p:spPr>
          <a:xfrm xmlns:a="http://schemas.openxmlformats.org/drawingml/2006/main">
            <a:off x="11334750" y="64389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717B"/>
                </a:solidFill>
                <a:latin typeface="Arial"/>
                <a:ea typeface="Arial"/>
                <a:cs typeface="Arial"/>
              </a:defRPr>
            </a:pPr>
            <a:r>
              <a:rPr sz="1200" b="0">
                <a:solidFill>
                  <a:srgbClr val="59717B"/>
                </a:solidFill>
                <a:latin typeface="Arial"/>
                <a:ea typeface="Arial"/>
                <a:cs typeface="Arial"/>
              </a:rPr>
              <a:t>02</a:t>
            </a:r>
          </a:p>
        </p:txBody>
      </p:sp>
    </p:spTree>
    <p:extLst>
      <p:ext uri="{BB962C8B-B14F-4D97-AF65-F5344CB8AC3E}">
        <p14:creationId xmlns:p14="http://schemas.microsoft.com/office/powerpoint/2010/main" val="642163928"/>
      </p:ext>
    </p:extLst>
  </p:cSld>
</p:sld>
</file>

<file path=ppt/slides/slide3.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B60BAB7-B059-4128-AC9A-0B09A3A4DD22}"/>
              </a:ext>
            </a:extLst>
          </p:cNvPr>
          <p:cNvSpPr>
            <a:spLocks xmlns:a="http://schemas.openxmlformats.org/drawingml/2006/main" noGrp="1"/>
          </p:cNvSpPr>
          <p:nvPr/>
        </p:nvSpPr>
        <p:spPr>
          <a:xfrm xmlns:a="http://schemas.openxmlformats.org/drawingml/2006/main">
            <a:off x="609600" y="52387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303D"/>
                </a:solidFill>
                <a:latin typeface="Arial"/>
                <a:ea typeface="Arial"/>
                <a:cs typeface="Arial"/>
              </a:defRPr>
            </a:pPr>
            <a:r>
              <a:rPr sz="3450" b="1">
                <a:solidFill>
                  <a:srgbClr val="12303D"/>
                </a:solidFill>
                <a:latin typeface="Arial"/>
                <a:ea typeface="Arial"/>
                <a:cs typeface="Arial"/>
              </a:rPr>
              <a:t>Cleaning preserves uncertainty</a:t>
            </a:r>
          </a:p>
        </p:txBody>
      </p:sp>
      <p:sp>
        <p:nvSpPr>
          <p:cNvPr id="2" name="">
            <a:extLst xmlns:a="http://schemas.openxmlformats.org/drawingml/2006/main">
              <a:ext uri="{FF2B5EF4-FFF2-40B4-BE49-F238E27FC236}">
                <a16:creationId xmlns:a16="http://schemas.microsoft.com/office/drawing/2014/main" id="{FBF25CF8-FE9D-425A-AC93-93B822EB055F}"/>
              </a:ext>
            </a:extLst>
          </p:cNvPr>
          <p:cNvSpPr>
            <a:spLocks xmlns:a="http://schemas.openxmlformats.org/drawingml/2006/main" noGrp="1"/>
          </p:cNvSpPr>
          <p:nvPr/>
        </p:nvSpPr>
        <p:spPr>
          <a:xfrm xmlns:a="http://schemas.openxmlformats.org/drawingml/2006/main">
            <a:off x="609600" y="1809750"/>
            <a:ext cx="4476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0" b="1">
                <a:solidFill>
                  <a:srgbClr val="247988"/>
                </a:solidFill>
                <a:latin typeface="Arial"/>
                <a:ea typeface="Arial"/>
                <a:cs typeface="Arial"/>
              </a:defRPr>
            </a:pPr>
            <a:r>
              <a:rPr sz="6750" b="1">
                <a:solidFill>
                  <a:srgbClr val="247988"/>
                </a:solidFill>
                <a:latin typeface="Arial"/>
                <a:ea typeface="Arial"/>
                <a:cs typeface="Arial"/>
              </a:rPr>
              <a:t>2,407</a:t>
            </a:r>
          </a:p>
        </p:txBody>
      </p:sp>
      <p:sp>
        <p:nvSpPr>
          <p:cNvPr id="3" name="">
            <a:extLst xmlns:a="http://schemas.openxmlformats.org/drawingml/2006/main">
              <a:ext uri="{FF2B5EF4-FFF2-40B4-BE49-F238E27FC236}">
                <a16:creationId xmlns:a16="http://schemas.microsoft.com/office/drawing/2014/main" id="{1E7F96D0-7B70-4D53-BBE2-CE4AE0497809}"/>
              </a:ext>
            </a:extLst>
          </p:cNvPr>
          <p:cNvSpPr>
            <a:spLocks xmlns:a="http://schemas.openxmlformats.org/drawingml/2006/main" noGrp="1"/>
          </p:cNvSpPr>
          <p:nvPr/>
        </p:nvSpPr>
        <p:spPr>
          <a:xfrm xmlns:a="http://schemas.openxmlformats.org/drawingml/2006/main">
            <a:off x="609600" y="2905125"/>
            <a:ext cx="419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2303D"/>
                </a:solidFill>
                <a:latin typeface="Arial"/>
                <a:ea typeface="Arial"/>
                <a:cs typeface="Arial"/>
              </a:defRPr>
            </a:pPr>
            <a:r>
              <a:rPr sz="2100" b="0">
                <a:solidFill>
                  <a:srgbClr val="12303D"/>
                </a:solidFill>
                <a:latin typeface="Arial"/>
                <a:ea typeface="Arial"/>
                <a:cs typeface="Arial"/>
              </a:rPr>
              <a:t>supplied rows</a:t>
            </a:r>
          </a:p>
        </p:txBody>
      </p:sp>
      <p:sp>
        <p:nvSpPr>
          <p:cNvPr id="4" name="">
            <a:extLst xmlns:a="http://schemas.openxmlformats.org/drawingml/2006/main">
              <a:ext uri="{FF2B5EF4-FFF2-40B4-BE49-F238E27FC236}">
                <a16:creationId xmlns:a16="http://schemas.microsoft.com/office/drawing/2014/main" id="{33C96666-0D2F-402C-AF7F-042C47B08E27}"/>
              </a:ext>
            </a:extLst>
          </p:cNvPr>
          <p:cNvSpPr>
            <a:spLocks xmlns:a="http://schemas.openxmlformats.org/drawingml/2006/main" noGrp="1"/>
          </p:cNvSpPr>
          <p:nvPr/>
        </p:nvSpPr>
        <p:spPr>
          <a:xfrm xmlns:a="http://schemas.openxmlformats.org/drawingml/2006/main">
            <a:off x="609600" y="3714750"/>
            <a:ext cx="4476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0" b="1">
                <a:solidFill>
                  <a:srgbClr val="12303D"/>
                </a:solidFill>
                <a:latin typeface="Arial"/>
                <a:ea typeface="Arial"/>
                <a:cs typeface="Arial"/>
              </a:defRPr>
            </a:pPr>
            <a:r>
              <a:rPr sz="6750" b="1">
                <a:solidFill>
                  <a:srgbClr val="12303D"/>
                </a:solidFill>
                <a:latin typeface="Arial"/>
                <a:ea typeface="Arial"/>
                <a:cs typeface="Arial"/>
              </a:rPr>
              <a:t>2,400</a:t>
            </a:r>
          </a:p>
        </p:txBody>
      </p:sp>
      <p:sp>
        <p:nvSpPr>
          <p:cNvPr id="5" name="">
            <a:extLst xmlns:a="http://schemas.openxmlformats.org/drawingml/2006/main">
              <a:ext uri="{FF2B5EF4-FFF2-40B4-BE49-F238E27FC236}">
                <a16:creationId xmlns:a16="http://schemas.microsoft.com/office/drawing/2014/main" id="{2BFD4E21-4ADE-4F02-8343-95C2DC909A47}"/>
              </a:ext>
            </a:extLst>
          </p:cNvPr>
          <p:cNvSpPr>
            <a:spLocks xmlns:a="http://schemas.openxmlformats.org/drawingml/2006/main" noGrp="1"/>
          </p:cNvSpPr>
          <p:nvPr/>
        </p:nvSpPr>
        <p:spPr>
          <a:xfrm xmlns:a="http://schemas.openxmlformats.org/drawingml/2006/main">
            <a:off x="609600" y="4857750"/>
            <a:ext cx="466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2303D"/>
                </a:solidFill>
                <a:latin typeface="Arial"/>
                <a:ea typeface="Arial"/>
                <a:cs typeface="Arial"/>
              </a:defRPr>
            </a:pPr>
            <a:r>
              <a:rPr sz="1950" b="0">
                <a:solidFill>
                  <a:srgbClr val="12303D"/>
                </a:solidFill>
                <a:latin typeface="Arial"/>
                <a:ea typeface="Arial"/>
                <a:cs typeface="Arial"/>
              </a:rPr>
              <a:t>unique records after 7 exact duplicates</a:t>
            </a:r>
          </a:p>
        </p:txBody>
      </p:sp>
      <p:sp>
        <p:nvSpPr>
          <p:cNvPr id="6" name="">
            <a:extLst xmlns:a="http://schemas.openxmlformats.org/drawingml/2006/main">
              <a:ext uri="{FF2B5EF4-FFF2-40B4-BE49-F238E27FC236}">
                <a16:creationId xmlns:a16="http://schemas.microsoft.com/office/drawing/2014/main" id="{510AFB16-CC7B-4911-9061-2BF7A5954098}"/>
              </a:ext>
            </a:extLst>
          </p:cNvPr>
          <p:cNvSpPr>
            <a:spLocks xmlns:a="http://schemas.openxmlformats.org/drawingml/2006/main" noGrp="1"/>
          </p:cNvSpPr>
          <p:nvPr/>
        </p:nvSpPr>
        <p:spPr>
          <a:xfrm xmlns:a="http://schemas.openxmlformats.org/drawingml/2006/main">
            <a:off x="6191250" y="2143125"/>
            <a:ext cx="523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2303D"/>
                </a:solidFill>
                <a:latin typeface="Arial"/>
                <a:ea typeface="Arial"/>
                <a:cs typeface="Arial"/>
              </a:defRPr>
            </a:pPr>
            <a:r>
              <a:rPr sz="2250" b="1">
                <a:solidFill>
                  <a:srgbClr val="12303D"/>
                </a:solidFill>
                <a:latin typeface="Arial"/>
                <a:ea typeface="Arial"/>
                <a:cs typeface="Arial"/>
              </a:rPr>
              <a:t>8 country aliases standardized</a:t>
            </a:r>
          </a:p>
        </p:txBody>
      </p:sp>
      <p:sp>
        <p:nvSpPr>
          <p:cNvPr id="7" name="">
            <a:extLst xmlns:a="http://schemas.openxmlformats.org/drawingml/2006/main">
              <a:ext uri="{FF2B5EF4-FFF2-40B4-BE49-F238E27FC236}">
                <a16:creationId xmlns:a16="http://schemas.microsoft.com/office/drawing/2014/main" id="{688D2421-2354-4F16-A40D-51648C8F2D98}"/>
              </a:ext>
            </a:extLst>
          </p:cNvPr>
          <p:cNvSpPr>
            <a:spLocks xmlns:a="http://schemas.openxmlformats.org/drawingml/2006/main" noGrp="1"/>
          </p:cNvSpPr>
          <p:nvPr/>
        </p:nvSpPr>
        <p:spPr>
          <a:xfrm xmlns:a="http://schemas.openxmlformats.org/drawingml/2006/main">
            <a:off x="6191250" y="31432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2303D"/>
                </a:solidFill>
                <a:latin typeface="Arial"/>
                <a:ea typeface="Arial"/>
                <a:cs typeface="Arial"/>
              </a:defRPr>
            </a:pPr>
            <a:r>
              <a:rPr sz="2250" b="0">
                <a:solidFill>
                  <a:srgbClr val="12303D"/>
                </a:solidFill>
                <a:latin typeface="Arial"/>
                <a:ea typeface="Arial"/>
                <a:cs typeface="Arial"/>
              </a:rPr>
              <a:t>9 missing countries remain unknown</a:t>
            </a:r>
          </a:p>
        </p:txBody>
      </p:sp>
      <p:sp>
        <p:nvSpPr>
          <p:cNvPr id="8" name="">
            <a:extLst xmlns:a="http://schemas.openxmlformats.org/drawingml/2006/main">
              <a:ext uri="{FF2B5EF4-FFF2-40B4-BE49-F238E27FC236}">
                <a16:creationId xmlns:a16="http://schemas.microsoft.com/office/drawing/2014/main" id="{7EFD66D0-6172-42C7-A5EC-264F2CF297C7}"/>
              </a:ext>
            </a:extLst>
          </p:cNvPr>
          <p:cNvSpPr>
            <a:spLocks xmlns:a="http://schemas.openxmlformats.org/drawingml/2006/main" noGrp="1"/>
          </p:cNvSpPr>
          <p:nvPr/>
        </p:nvSpPr>
        <p:spPr>
          <a:xfrm xmlns:a="http://schemas.openxmlformats.org/drawingml/2006/main">
            <a:off x="6191250" y="4333875"/>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2303D"/>
                </a:solidFill>
                <a:latin typeface="Arial"/>
                <a:ea typeface="Arial"/>
                <a:cs typeface="Arial"/>
              </a:defRPr>
            </a:pPr>
            <a:r>
              <a:rPr sz="2250" b="0">
                <a:solidFill>
                  <a:srgbClr val="12303D"/>
                </a:solidFill>
                <a:latin typeface="Arial"/>
                <a:ea typeface="Arial"/>
                <a:cs typeface="Arial"/>
              </a:rPr>
              <a:t>10 invalid-date records quarantined</a:t>
            </a:r>
          </a:p>
        </p:txBody>
      </p:sp>
      <p:sp>
        <p:nvSpPr>
          <p:cNvPr id="9" name="">
            <a:extLst xmlns:a="http://schemas.openxmlformats.org/drawingml/2006/main">
              <a:ext uri="{FF2B5EF4-FFF2-40B4-BE49-F238E27FC236}">
                <a16:creationId xmlns:a16="http://schemas.microsoft.com/office/drawing/2014/main" id="{51EEC0C3-5307-44FE-B1FF-48C5E3F24BDC}"/>
              </a:ext>
            </a:extLst>
          </p:cNvPr>
          <p:cNvSpPr>
            <a:spLocks xmlns:a="http://schemas.openxmlformats.org/drawingml/2006/main" noGrp="1"/>
          </p:cNvSpPr>
          <p:nvPr/>
        </p:nvSpPr>
        <p:spPr>
          <a:xfrm xmlns:a="http://schemas.openxmlformats.org/drawingml/2006/main">
            <a:off x="609600" y="59817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9717B"/>
                </a:solidFill>
                <a:latin typeface="Arial"/>
                <a:ea typeface="Arial"/>
                <a:cs typeface="Arial"/>
              </a:defRPr>
            </a:pPr>
            <a:r>
              <a:rPr sz="1800" b="0">
                <a:solidFill>
                  <a:srgbClr val="59717B"/>
                </a:solidFill>
                <a:latin typeface="Arial"/>
                <a:ea typeface="Arial"/>
                <a:cs typeface="Arial"/>
              </a:rPr>
              <a:t>Raw data stays unchanged. Every exclusion remains auditable.</a:t>
            </a:r>
          </a:p>
        </p:txBody>
      </p:sp>
      <p:sp>
        <p:nvSpPr>
          <p:cNvPr id="10" name="">
            <a:extLst xmlns:a="http://schemas.openxmlformats.org/drawingml/2006/main">
              <a:ext uri="{FF2B5EF4-FFF2-40B4-BE49-F238E27FC236}">
                <a16:creationId xmlns:a16="http://schemas.microsoft.com/office/drawing/2014/main" id="{44B28E62-C606-4AA2-9F0F-DFB789CE7E81}"/>
              </a:ext>
            </a:extLst>
          </p:cNvPr>
          <p:cNvSpPr>
            <a:spLocks xmlns:a="http://schemas.openxmlformats.org/drawingml/2006/main" noGrp="1"/>
          </p:cNvSpPr>
          <p:nvPr/>
        </p:nvSpPr>
        <p:spPr>
          <a:xfrm xmlns:a="http://schemas.openxmlformats.org/drawingml/2006/main">
            <a:off x="11334750" y="64389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717B"/>
                </a:solidFill>
                <a:latin typeface="Arial"/>
                <a:ea typeface="Arial"/>
                <a:cs typeface="Arial"/>
              </a:defRPr>
            </a:pPr>
            <a:r>
              <a:rPr sz="1200" b="0">
                <a:solidFill>
                  <a:srgbClr val="59717B"/>
                </a:solidFill>
                <a:latin typeface="Arial"/>
                <a:ea typeface="Arial"/>
                <a:cs typeface="Arial"/>
              </a:rPr>
              <a:t>03</a:t>
            </a:r>
          </a:p>
        </p:txBody>
      </p:sp>
    </p:spTree>
    <p:extLst>
      <p:ext uri="{BB962C8B-B14F-4D97-AF65-F5344CB8AC3E}">
        <p14:creationId xmlns:p14="http://schemas.microsoft.com/office/powerpoint/2010/main" val="80582866"/>
      </p:ext>
    </p:extLst>
  </p:cSld>
</p:sld>
</file>

<file path=ppt/slides/slide4.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424CFB2-0C2C-4D8D-B3D7-15A9E95958D4}"/>
              </a:ext>
            </a:extLst>
          </p:cNvPr>
          <p:cNvSpPr>
            <a:spLocks xmlns:a="http://schemas.openxmlformats.org/drawingml/2006/main" noGrp="1"/>
          </p:cNvSpPr>
          <p:nvPr/>
        </p:nvSpPr>
        <p:spPr>
          <a:xfrm xmlns:a="http://schemas.openxmlformats.org/drawingml/2006/main">
            <a:off x="609600" y="52387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303D"/>
                </a:solidFill>
                <a:latin typeface="Arial"/>
                <a:ea typeface="Arial"/>
                <a:cs typeface="Arial"/>
              </a:defRPr>
            </a:pPr>
            <a:r>
              <a:rPr sz="3450" b="1">
                <a:solidFill>
                  <a:srgbClr val="12303D"/>
                </a:solidFill>
                <a:latin typeface="Arial"/>
                <a:ea typeface="Arial"/>
                <a:cs typeface="Arial"/>
              </a:rPr>
              <a:t>Retention starts with eligible cohorts</a:t>
            </a:r>
          </a:p>
        </p:txBody>
      </p:sp>
      <p:sp>
        <p:nvSpPr>
          <p:cNvPr id="2" name="">
            <a:extLst xmlns:a="http://schemas.openxmlformats.org/drawingml/2006/main">
              <a:ext uri="{FF2B5EF4-FFF2-40B4-BE49-F238E27FC236}">
                <a16:creationId xmlns:a16="http://schemas.microsoft.com/office/drawing/2014/main" id="{61655494-0AA4-472D-A238-F78986E0F7C3}"/>
              </a:ext>
            </a:extLst>
          </p:cNvPr>
          <p:cNvSpPr>
            <a:spLocks xmlns:a="http://schemas.openxmlformats.org/drawingml/2006/main" noGrp="1"/>
          </p:cNvSpPr>
          <p:nvPr/>
        </p:nvSpPr>
        <p:spPr>
          <a:xfrm xmlns:a="http://schemas.openxmlformats.org/drawingml/2006/main">
            <a:off x="666750" y="1905000"/>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47988"/>
                </a:solidFill>
                <a:latin typeface="Arial"/>
                <a:ea typeface="Arial"/>
                <a:cs typeface="Arial"/>
              </a:defRPr>
            </a:pPr>
            <a:r>
              <a:rPr sz="2550" b="1">
                <a:solidFill>
                  <a:srgbClr val="247988"/>
                </a:solidFill>
                <a:latin typeface="Arial"/>
                <a:ea typeface="Arial"/>
                <a:cs typeface="Arial"/>
              </a:rPr>
              <a:t>6 months</a:t>
            </a:r>
          </a:p>
        </p:txBody>
      </p:sp>
      <p:sp>
        <p:nvSpPr>
          <p:cNvPr id="3" name="">
            <a:extLst xmlns:a="http://schemas.openxmlformats.org/drawingml/2006/main">
              <a:ext uri="{FF2B5EF4-FFF2-40B4-BE49-F238E27FC236}">
                <a16:creationId xmlns:a16="http://schemas.microsoft.com/office/drawing/2014/main" id="{741C3B6F-CD08-4A16-94E3-78DD68A06960}"/>
              </a:ext>
            </a:extLst>
          </p:cNvPr>
          <p:cNvSpPr>
            <a:spLocks xmlns:a="http://schemas.openxmlformats.org/drawingml/2006/main" noGrp="1"/>
          </p:cNvSpPr>
          <p:nvPr/>
        </p:nvSpPr>
        <p:spPr>
          <a:xfrm xmlns:a="http://schemas.openxmlformats.org/drawingml/2006/main">
            <a:off x="666750" y="2619375"/>
            <a:ext cx="5334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12303D"/>
                </a:solidFill>
                <a:latin typeface="Arial"/>
                <a:ea typeface="Arial"/>
                <a:cs typeface="Arial"/>
              </a:defRPr>
            </a:pPr>
            <a:r>
              <a:rPr sz="4425" b="1">
                <a:solidFill>
                  <a:srgbClr val="12303D"/>
                </a:solidFill>
                <a:latin typeface="Arial"/>
                <a:ea typeface="Arial"/>
                <a:cs typeface="Arial"/>
              </a:rPr>
              <a:t>1,580 / 1,813</a:t>
            </a:r>
          </a:p>
        </p:txBody>
      </p:sp>
      <p:sp>
        <p:nvSpPr>
          <p:cNvPr id="4" name="">
            <a:extLst xmlns:a="http://schemas.openxmlformats.org/drawingml/2006/main">
              <a:ext uri="{FF2B5EF4-FFF2-40B4-BE49-F238E27FC236}">
                <a16:creationId xmlns:a16="http://schemas.microsoft.com/office/drawing/2014/main" id="{3DC59D0C-849D-41A6-B6C5-7A301F52B482}"/>
              </a:ext>
            </a:extLst>
          </p:cNvPr>
          <p:cNvSpPr>
            <a:spLocks xmlns:a="http://schemas.openxmlformats.org/drawingml/2006/main" noGrp="1"/>
          </p:cNvSpPr>
          <p:nvPr/>
        </p:nvSpPr>
        <p:spPr>
          <a:xfrm xmlns:a="http://schemas.openxmlformats.org/drawingml/2006/main">
            <a:off x="666750" y="3619500"/>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2303D"/>
                </a:solidFill>
                <a:latin typeface="Arial"/>
                <a:ea typeface="Arial"/>
                <a:cs typeface="Arial"/>
              </a:defRPr>
            </a:pPr>
            <a:r>
              <a:rPr sz="2400" b="0">
                <a:solidFill>
                  <a:srgbClr val="12303D"/>
                </a:solidFill>
                <a:latin typeface="Arial"/>
                <a:ea typeface="Arial"/>
                <a:cs typeface="Arial"/>
              </a:rPr>
              <a:t>87.15% retained</a:t>
            </a:r>
          </a:p>
        </p:txBody>
      </p:sp>
      <p:sp>
        <p:nvSpPr>
          <p:cNvPr id="5" name="">
            <a:extLst xmlns:a="http://schemas.openxmlformats.org/drawingml/2006/main">
              <a:ext uri="{FF2B5EF4-FFF2-40B4-BE49-F238E27FC236}">
                <a16:creationId xmlns:a16="http://schemas.microsoft.com/office/drawing/2014/main" id="{CE5ECBD7-51C9-46CB-BF08-021EADC294F5}"/>
              </a:ext>
            </a:extLst>
          </p:cNvPr>
          <p:cNvSpPr>
            <a:spLocks xmlns:a="http://schemas.openxmlformats.org/drawingml/2006/main" noGrp="1"/>
          </p:cNvSpPr>
          <p:nvPr/>
        </p:nvSpPr>
        <p:spPr>
          <a:xfrm xmlns:a="http://schemas.openxmlformats.org/drawingml/2006/main">
            <a:off x="6477000" y="190500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47988"/>
                </a:solidFill>
                <a:latin typeface="Arial"/>
                <a:ea typeface="Arial"/>
                <a:cs typeface="Arial"/>
              </a:defRPr>
            </a:pPr>
            <a:r>
              <a:rPr sz="2550" b="1">
                <a:solidFill>
                  <a:srgbClr val="247988"/>
                </a:solidFill>
                <a:latin typeface="Arial"/>
                <a:ea typeface="Arial"/>
                <a:cs typeface="Arial"/>
              </a:rPr>
              <a:t>12 months, senior</a:t>
            </a:r>
          </a:p>
        </p:txBody>
      </p:sp>
      <p:sp>
        <p:nvSpPr>
          <p:cNvPr id="6" name="">
            <a:extLst xmlns:a="http://schemas.openxmlformats.org/drawingml/2006/main">
              <a:ext uri="{FF2B5EF4-FFF2-40B4-BE49-F238E27FC236}">
                <a16:creationId xmlns:a16="http://schemas.microsoft.com/office/drawing/2014/main" id="{6E8F056F-0234-4BC8-BF31-E28C8E959C57}"/>
              </a:ext>
            </a:extLst>
          </p:cNvPr>
          <p:cNvSpPr>
            <a:spLocks xmlns:a="http://schemas.openxmlformats.org/drawingml/2006/main" noGrp="1"/>
          </p:cNvSpPr>
          <p:nvPr/>
        </p:nvSpPr>
        <p:spPr>
          <a:xfrm xmlns:a="http://schemas.openxmlformats.org/drawingml/2006/main">
            <a:off x="6477000" y="2619375"/>
            <a:ext cx="5048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12303D"/>
                </a:solidFill>
                <a:latin typeface="Arial"/>
                <a:ea typeface="Arial"/>
                <a:cs typeface="Arial"/>
              </a:defRPr>
            </a:pPr>
            <a:r>
              <a:rPr sz="4425" b="1">
                <a:solidFill>
                  <a:srgbClr val="12303D"/>
                </a:solidFill>
                <a:latin typeface="Arial"/>
                <a:ea typeface="Arial"/>
                <a:cs typeface="Arial"/>
              </a:rPr>
              <a:t>209 / 266</a:t>
            </a:r>
          </a:p>
        </p:txBody>
      </p:sp>
      <p:sp>
        <p:nvSpPr>
          <p:cNvPr id="7" name="">
            <a:extLst xmlns:a="http://schemas.openxmlformats.org/drawingml/2006/main">
              <a:ext uri="{FF2B5EF4-FFF2-40B4-BE49-F238E27FC236}">
                <a16:creationId xmlns:a16="http://schemas.microsoft.com/office/drawing/2014/main" id="{DD95E94D-5548-4045-A12F-635FE3CCEB55}"/>
              </a:ext>
            </a:extLst>
          </p:cNvPr>
          <p:cNvSpPr>
            <a:spLocks xmlns:a="http://schemas.openxmlformats.org/drawingml/2006/main" noGrp="1"/>
          </p:cNvSpPr>
          <p:nvPr/>
        </p:nvSpPr>
        <p:spPr>
          <a:xfrm xmlns:a="http://schemas.openxmlformats.org/drawingml/2006/main">
            <a:off x="6477000" y="3619500"/>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2303D"/>
                </a:solidFill>
                <a:latin typeface="Arial"/>
                <a:ea typeface="Arial"/>
                <a:cs typeface="Arial"/>
              </a:defRPr>
            </a:pPr>
            <a:r>
              <a:rPr sz="2400" b="0">
                <a:solidFill>
                  <a:srgbClr val="12303D"/>
                </a:solidFill>
                <a:latin typeface="Arial"/>
                <a:ea typeface="Arial"/>
                <a:cs typeface="Arial"/>
              </a:rPr>
              <a:t>78.57% retained</a:t>
            </a:r>
          </a:p>
        </p:txBody>
      </p:sp>
      <p:sp>
        <p:nvSpPr>
          <p:cNvPr id="8" name="">
            <a:extLst xmlns:a="http://schemas.openxmlformats.org/drawingml/2006/main">
              <a:ext uri="{FF2B5EF4-FFF2-40B4-BE49-F238E27FC236}">
                <a16:creationId xmlns:a16="http://schemas.microsoft.com/office/drawing/2014/main" id="{3B252D89-91D1-47BE-B5D5-91D6EF4326FA}"/>
              </a:ext>
            </a:extLst>
          </p:cNvPr>
          <p:cNvSpPr>
            <a:spLocks xmlns:a="http://schemas.openxmlformats.org/drawingml/2006/main" noGrp="1"/>
          </p:cNvSpPr>
          <p:nvPr/>
        </p:nvSpPr>
        <p:spPr>
          <a:xfrm xmlns:a="http://schemas.openxmlformats.org/drawingml/2006/main">
            <a:off x="666750" y="4810125"/>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2303D"/>
                </a:solidFill>
                <a:latin typeface="Arial"/>
                <a:ea typeface="Arial"/>
                <a:cs typeface="Arial"/>
              </a:defRPr>
            </a:pPr>
            <a:r>
              <a:rPr sz="2250" b="0">
                <a:solidFill>
                  <a:srgbClr val="12303D"/>
                </a:solidFill>
                <a:latin typeface="Arial"/>
                <a:ea typeface="Arial"/>
                <a:cs typeface="Arial"/>
              </a:rPr>
              <a:t>Only hires who reach the milestone by the snapshot enter the denominator.</a:t>
            </a:r>
          </a:p>
        </p:txBody>
      </p:sp>
      <p:sp>
        <p:nvSpPr>
          <p:cNvPr id="9" name="">
            <a:extLst xmlns:a="http://schemas.openxmlformats.org/drawingml/2006/main">
              <a:ext uri="{FF2B5EF4-FFF2-40B4-BE49-F238E27FC236}">
                <a16:creationId xmlns:a16="http://schemas.microsoft.com/office/drawing/2014/main" id="{9C0706C6-F8B6-4116-B6D0-1E63B6DEAFF2}"/>
              </a:ext>
            </a:extLst>
          </p:cNvPr>
          <p:cNvSpPr>
            <a:spLocks xmlns:a="http://schemas.openxmlformats.org/drawingml/2006/main" noGrp="1"/>
          </p:cNvSpPr>
          <p:nvPr/>
        </p:nvSpPr>
        <p:spPr>
          <a:xfrm xmlns:a="http://schemas.openxmlformats.org/drawingml/2006/main">
            <a:off x="666750" y="58483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717B"/>
                </a:solidFill>
                <a:latin typeface="Arial"/>
                <a:ea typeface="Arial"/>
                <a:cs typeface="Arial"/>
              </a:defRPr>
            </a:pPr>
            <a:r>
              <a:rPr sz="1725" b="0">
                <a:solidFill>
                  <a:srgbClr val="59717B"/>
                </a:solidFill>
                <a:latin typeface="Arial"/>
                <a:ea typeface="Arial"/>
                <a:cs typeface="Arial"/>
              </a:rPr>
              <a:t>Hiring period: 2021-2025. Termination on the anniversary counts as retained.</a:t>
            </a:r>
          </a:p>
        </p:txBody>
      </p:sp>
      <p:sp>
        <p:nvSpPr>
          <p:cNvPr id="10" name="">
            <a:extLst xmlns:a="http://schemas.openxmlformats.org/drawingml/2006/main">
              <a:ext uri="{FF2B5EF4-FFF2-40B4-BE49-F238E27FC236}">
                <a16:creationId xmlns:a16="http://schemas.microsoft.com/office/drawing/2014/main" id="{C9242C01-4B15-4B35-9016-EC236CCBF592}"/>
              </a:ext>
            </a:extLst>
          </p:cNvPr>
          <p:cNvSpPr>
            <a:spLocks xmlns:a="http://schemas.openxmlformats.org/drawingml/2006/main" noGrp="1"/>
          </p:cNvSpPr>
          <p:nvPr/>
        </p:nvSpPr>
        <p:spPr>
          <a:xfrm xmlns:a="http://schemas.openxmlformats.org/drawingml/2006/main">
            <a:off x="11334750" y="64389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717B"/>
                </a:solidFill>
                <a:latin typeface="Arial"/>
                <a:ea typeface="Arial"/>
                <a:cs typeface="Arial"/>
              </a:defRPr>
            </a:pPr>
            <a:r>
              <a:rPr sz="1200" b="0">
                <a:solidFill>
                  <a:srgbClr val="59717B"/>
                </a:solidFill>
                <a:latin typeface="Arial"/>
                <a:ea typeface="Arial"/>
                <a:cs typeface="Arial"/>
              </a:rPr>
              <a:t>04</a:t>
            </a:r>
          </a:p>
        </p:txBody>
      </p:sp>
    </p:spTree>
    <p:extLst>
      <p:ext uri="{BB962C8B-B14F-4D97-AF65-F5344CB8AC3E}">
        <p14:creationId xmlns:p14="http://schemas.microsoft.com/office/powerpoint/2010/main" val="1521298671"/>
      </p:ext>
    </p:extLst>
  </p:cSld>
</p:sld>
</file>

<file path=ppt/slides/slide5.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DA81910-84E2-457D-B2AC-FC3B0E63BA7C}"/>
              </a:ext>
            </a:extLst>
          </p:cNvPr>
          <p:cNvSpPr>
            <a:spLocks xmlns:a="http://schemas.openxmlformats.org/drawingml/2006/main" noGrp="1"/>
          </p:cNvSpPr>
          <p:nvPr/>
        </p:nvSpPr>
        <p:spPr>
          <a:xfrm xmlns:a="http://schemas.openxmlformats.org/drawingml/2006/main">
            <a:off x="609600" y="52387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303D"/>
                </a:solidFill>
                <a:latin typeface="Arial"/>
                <a:ea typeface="Arial"/>
                <a:cs typeface="Arial"/>
              </a:defRPr>
            </a:pPr>
            <a:r>
              <a:rPr sz="3450" b="1">
                <a:solidFill>
                  <a:srgbClr val="12303D"/>
                </a:solidFill>
                <a:latin typeface="Arial"/>
                <a:ea typeface="Arial"/>
                <a:cs typeface="Arial"/>
              </a:rPr>
              <a:t>Turnover stays below its ceiling</a:t>
            </a:r>
          </a:p>
        </p:txBody>
      </p:sp>
      <p:graphicFrame>
        <p:nvGraphicFramePr>
          <p:cNvPr id="7" name="Chart"/>
          <p:cNvGraphicFramePr/>
          <p:nvPr/>
        </p:nvGraphicFramePr>
        <p:xfrm>
          <a:off xmlns:a="http://schemas.openxmlformats.org/drawingml/2006/main" x="666750" y="1905000"/>
          <a:ext xmlns:a="http://schemas.openxmlformats.org/drawingml/2006/main" cx="10287000" cy="3333750"/>
        </p:xfrm>
        <a:graphic xmlns:a="http://schemas.openxmlformats.org/drawingml/2006/main">
          <a:graphicData uri="http://schemas.openxmlformats.org/drawingml/2006/chart">
            <c:chart xmlns:r="http://schemas.openxmlformats.org/officeDocument/2006/relationships" xmlns:c="http://schemas.openxmlformats.org/drawingml/2006/chart" r:id="Raea5148550104dc5"/>
          </a:graphicData>
        </a:graphic>
      </p:graphicFrame>
      <p:sp>
        <p:nvSpPr>
          <p:cNvPr id="3" name="">
            <a:extLst xmlns:a="http://schemas.openxmlformats.org/drawingml/2006/main">
              <a:ext uri="{FF2B5EF4-FFF2-40B4-BE49-F238E27FC236}">
                <a16:creationId xmlns:a16="http://schemas.microsoft.com/office/drawing/2014/main" id="{571B4A38-908F-418C-8D03-8917B04C9D7B}"/>
              </a:ext>
            </a:extLst>
          </p:cNvPr>
          <p:cNvSpPr>
            <a:spLocks xmlns:a="http://schemas.openxmlformats.org/drawingml/2006/main" noGrp="1"/>
          </p:cNvSpPr>
          <p:nvPr/>
        </p:nvSpPr>
        <p:spPr>
          <a:xfrm xmlns:a="http://schemas.openxmlformats.org/drawingml/2006/main">
            <a:off x="666750" y="55245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2303D"/>
                </a:solidFill>
                <a:latin typeface="Arial"/>
                <a:ea typeface="Arial"/>
                <a:cs typeface="Arial"/>
              </a:defRPr>
            </a:pPr>
            <a:r>
              <a:rPr sz="2400" b="1">
                <a:solidFill>
                  <a:srgbClr val="12303D"/>
                </a:solidFill>
                <a:latin typeface="Arial"/>
                <a:ea typeface="Arial"/>
                <a:cs typeface="Arial"/>
              </a:rPr>
              <a:t>82 exits / 1,607.52 average daily headcount</a:t>
            </a:r>
          </a:p>
        </p:txBody>
      </p:sp>
      <p:sp>
        <p:nvSpPr>
          <p:cNvPr id="4" name="">
            <a:extLst xmlns:a="http://schemas.openxmlformats.org/drawingml/2006/main">
              <a:ext uri="{FF2B5EF4-FFF2-40B4-BE49-F238E27FC236}">
                <a16:creationId xmlns:a16="http://schemas.microsoft.com/office/drawing/2014/main" id="{916D5120-EC7E-4F0A-B478-75F098A32E7F}"/>
              </a:ext>
            </a:extLst>
          </p:cNvPr>
          <p:cNvSpPr>
            <a:spLocks xmlns:a="http://schemas.openxmlformats.org/drawingml/2006/main" noGrp="1"/>
          </p:cNvSpPr>
          <p:nvPr/>
        </p:nvSpPr>
        <p:spPr>
          <a:xfrm xmlns:a="http://schemas.openxmlformats.org/drawingml/2006/main">
            <a:off x="666750" y="61150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9717B"/>
                </a:solidFill>
                <a:latin typeface="Arial"/>
                <a:ea typeface="Arial"/>
                <a:cs typeface="Arial"/>
              </a:defRPr>
            </a:pPr>
            <a:r>
              <a:rPr sz="1650" b="0">
                <a:solidFill>
                  <a:srgbClr val="59717B"/>
                </a:solidFill>
                <a:latin typeface="Arial"/>
                <a:ea typeface="Arial"/>
                <a:cs typeface="Arial"/>
              </a:rPr>
              <a:t>The upper scenario adds 2 potentially regretted exits. It is not a confidence interval.</a:t>
            </a:r>
          </a:p>
        </p:txBody>
      </p:sp>
      <p:sp>
        <p:nvSpPr>
          <p:cNvPr id="5" name="">
            <a:extLst xmlns:a="http://schemas.openxmlformats.org/drawingml/2006/main">
              <a:ext uri="{FF2B5EF4-FFF2-40B4-BE49-F238E27FC236}">
                <a16:creationId xmlns:a16="http://schemas.microsoft.com/office/drawing/2014/main" id="{E1274F33-DF74-4378-9E6E-69B13B546FF5}"/>
              </a:ext>
            </a:extLst>
          </p:cNvPr>
          <p:cNvSpPr>
            <a:spLocks xmlns:a="http://schemas.openxmlformats.org/drawingml/2006/main" noGrp="1"/>
          </p:cNvSpPr>
          <p:nvPr/>
        </p:nvSpPr>
        <p:spPr>
          <a:xfrm xmlns:a="http://schemas.openxmlformats.org/drawingml/2006/main">
            <a:off x="11334750" y="64389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717B"/>
                </a:solidFill>
                <a:latin typeface="Arial"/>
                <a:ea typeface="Arial"/>
                <a:cs typeface="Arial"/>
              </a:defRPr>
            </a:pPr>
            <a:r>
              <a:rPr sz="1200" b="0">
                <a:solidFill>
                  <a:srgbClr val="59717B"/>
                </a:solidFill>
                <a:latin typeface="Arial"/>
                <a:ea typeface="Arial"/>
                <a:cs typeface="Arial"/>
              </a:rPr>
              <a:t>05</a:t>
            </a:r>
          </a:p>
        </p:txBody>
      </p:sp>
    </p:spTree>
    <p:extLst>
      <p:ext uri="{BB962C8B-B14F-4D97-AF65-F5344CB8AC3E}">
        <p14:creationId xmlns:p14="http://schemas.microsoft.com/office/powerpoint/2010/main" val="365459863"/>
      </p:ext>
    </p:extLst>
  </p:cSld>
</p:sld>
</file>

<file path=ppt/slides/slide6.xml><?xml version="1.0" encoding="utf-8"?>
<p:sld xmlns:p="http://schemas.openxmlformats.org/presentationml/2006/main">
  <p:cSld>
    <p:bg>
      <p:bgPr>
        <a:solidFill xmlns:a="http://schemas.openxmlformats.org/drawingml/2006/main">
          <a:srgbClr val="12303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57A69A3-4CD3-42F1-95D7-92D7D90B4B42}"/>
              </a:ext>
            </a:extLst>
          </p:cNvPr>
          <p:cNvSpPr>
            <a:spLocks xmlns:a="http://schemas.openxmlformats.org/drawingml/2006/main" noGrp="1"/>
          </p:cNvSpPr>
          <p:nvPr/>
        </p:nvSpPr>
        <p:spPr>
          <a:xfrm xmlns:a="http://schemas.openxmlformats.org/drawingml/2006/main">
            <a:off x="609600" y="57150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When a cohort is too recent</a:t>
            </a:r>
          </a:p>
        </p:txBody>
      </p:sp>
      <p:sp>
        <p:nvSpPr>
          <p:cNvPr id="2" name="">
            <a:extLst xmlns:a="http://schemas.openxmlformats.org/drawingml/2006/main">
              <a:ext uri="{FF2B5EF4-FFF2-40B4-BE49-F238E27FC236}">
                <a16:creationId xmlns:a16="http://schemas.microsoft.com/office/drawing/2014/main" id="{9F7BCF98-90BF-439B-B209-A2B9830E53B1}"/>
              </a:ext>
            </a:extLst>
          </p:cNvPr>
          <p:cNvSpPr>
            <a:spLocks xmlns:a="http://schemas.openxmlformats.org/drawingml/2006/main" noGrp="1"/>
          </p:cNvSpPr>
          <p:nvPr/>
        </p:nvSpPr>
        <p:spPr>
          <a:xfrm xmlns:a="http://schemas.openxmlformats.org/drawingml/2006/main">
            <a:off x="609600" y="19526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A9D9D6"/>
                </a:solidFill>
                <a:latin typeface="Arial"/>
                <a:ea typeface="Arial"/>
                <a:cs typeface="Arial"/>
              </a:defRPr>
            </a:pPr>
            <a:r>
              <a:rPr sz="2250" b="0">
                <a:solidFill>
                  <a:srgbClr val="A9D9D6"/>
                </a:solidFill>
                <a:latin typeface="Arial"/>
                <a:ea typeface="Arial"/>
                <a:cs typeface="Arial"/>
              </a:rPr>
              <a:t>Senior retention, Hire year 2025</a:t>
            </a:r>
          </a:p>
        </p:txBody>
      </p:sp>
      <p:sp>
        <p:nvSpPr>
          <p:cNvPr id="3" name="">
            <a:extLst xmlns:a="http://schemas.openxmlformats.org/drawingml/2006/main">
              <a:ext uri="{FF2B5EF4-FFF2-40B4-BE49-F238E27FC236}">
                <a16:creationId xmlns:a16="http://schemas.microsoft.com/office/drawing/2014/main" id="{F774EE71-89A7-4887-AC6C-F8692F3E8586}"/>
              </a:ext>
            </a:extLst>
          </p:cNvPr>
          <p:cNvSpPr>
            <a:spLocks xmlns:a="http://schemas.openxmlformats.org/drawingml/2006/main" noGrp="1"/>
          </p:cNvSpPr>
          <p:nvPr/>
        </p:nvSpPr>
        <p:spPr>
          <a:xfrm xmlns:a="http://schemas.openxmlformats.org/drawingml/2006/main">
            <a:off x="609600" y="276225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200" b="1">
                <a:solidFill>
                  <a:srgbClr val="FFFFFF"/>
                </a:solidFill>
                <a:latin typeface="Arial"/>
                <a:ea typeface="Arial"/>
                <a:cs typeface="Arial"/>
              </a:defRPr>
            </a:pPr>
            <a:r>
              <a:rPr sz="7200" b="1">
                <a:solidFill>
                  <a:srgbClr val="FFFFFF"/>
                </a:solidFill>
                <a:latin typeface="Arial"/>
                <a:ea typeface="Arial"/>
                <a:cs typeface="Arial"/>
              </a:rPr>
              <a:t>Unavailable</a:t>
            </a:r>
          </a:p>
        </p:txBody>
      </p:sp>
      <p:sp>
        <p:nvSpPr>
          <p:cNvPr id="4" name="">
            <a:extLst xmlns:a="http://schemas.openxmlformats.org/drawingml/2006/main">
              <a:ext uri="{FF2B5EF4-FFF2-40B4-BE49-F238E27FC236}">
                <a16:creationId xmlns:a16="http://schemas.microsoft.com/office/drawing/2014/main" id="{B80280B2-FB72-4582-8041-40C2B951C8B5}"/>
              </a:ext>
            </a:extLst>
          </p:cNvPr>
          <p:cNvSpPr>
            <a:spLocks xmlns:a="http://schemas.openxmlformats.org/drawingml/2006/main" noGrp="1"/>
          </p:cNvSpPr>
          <p:nvPr/>
        </p:nvSpPr>
        <p:spPr>
          <a:xfrm xmlns:a="http://schemas.openxmlformats.org/drawingml/2006/main">
            <a:off x="609600" y="414337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A9D9D6"/>
                </a:solidFill>
                <a:latin typeface="Arial"/>
                <a:ea typeface="Arial"/>
                <a:cs typeface="Arial"/>
              </a:defRPr>
            </a:pPr>
            <a:r>
              <a:rPr sz="3000" b="0">
                <a:solidFill>
                  <a:srgbClr val="A9D9D6"/>
                </a:solidFill>
                <a:latin typeface="Arial"/>
                <a:ea typeface="Arial"/>
                <a:cs typeface="Arial"/>
              </a:rPr>
              <a:t>0 mature hires</a:t>
            </a:r>
          </a:p>
        </p:txBody>
      </p:sp>
      <p:sp>
        <p:nvSpPr>
          <p:cNvPr id="5" name="">
            <a:extLst xmlns:a="http://schemas.openxmlformats.org/drawingml/2006/main">
              <a:ext uri="{FF2B5EF4-FFF2-40B4-BE49-F238E27FC236}">
                <a16:creationId xmlns:a16="http://schemas.microsoft.com/office/drawing/2014/main" id="{98B68A94-319F-4F5E-87FB-EF2347759350}"/>
              </a:ext>
            </a:extLst>
          </p:cNvPr>
          <p:cNvSpPr>
            <a:spLocks xmlns:a="http://schemas.openxmlformats.org/drawingml/2006/main" noGrp="1"/>
          </p:cNvSpPr>
          <p:nvPr/>
        </p:nvSpPr>
        <p:spPr>
          <a:xfrm xmlns:a="http://schemas.openxmlformats.org/drawingml/2006/main">
            <a:off x="609600" y="5381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D6E4E7"/>
                </a:solidFill>
                <a:latin typeface="Arial"/>
                <a:ea typeface="Arial"/>
                <a:cs typeface="Arial"/>
              </a:defRPr>
            </a:pPr>
            <a:r>
              <a:rPr sz="1950" b="0">
                <a:solidFill>
                  <a:srgbClr val="D6E4E7"/>
                </a:solidFill>
                <a:latin typeface="Arial"/>
                <a:ea typeface="Arial"/>
                <a:cs typeface="Arial"/>
              </a:rPr>
              <a:t>The dashboard keeps pending hires outside the denominator.</a:t>
            </a:r>
          </a:p>
          <a:p xmlns:a="http://schemas.openxmlformats.org/drawingml/2006/main">
            <a:pPr>
              <a:defRPr sz="1950" b="0">
                <a:solidFill>
                  <a:srgbClr val="D6E4E7"/>
                </a:solidFill>
                <a:latin typeface="Arial"/>
                <a:ea typeface="Arial"/>
                <a:cs typeface="Arial"/>
              </a:defRPr>
            </a:pPr>
            <a:r>
              <a:rPr sz="1950" b="0">
                <a:solidFill>
                  <a:srgbClr val="D6E4E7"/>
                </a:solidFill>
                <a:latin typeface="Arial"/>
                <a:ea typeface="Arial"/>
                <a:cs typeface="Arial"/>
              </a:rPr>
              <a:t>Company-wide KPI cards remain fixed while cohort filters change.</a:t>
            </a:r>
          </a:p>
        </p:txBody>
      </p:sp>
      <p:sp>
        <p:nvSpPr>
          <p:cNvPr id="6" name="">
            <a:extLst xmlns:a="http://schemas.openxmlformats.org/drawingml/2006/main">
              <a:ext uri="{FF2B5EF4-FFF2-40B4-BE49-F238E27FC236}">
                <a16:creationId xmlns:a16="http://schemas.microsoft.com/office/drawing/2014/main" id="{CBD25170-B0B3-49AF-9955-C9E72B2B32B8}"/>
              </a:ext>
            </a:extLst>
          </p:cNvPr>
          <p:cNvSpPr>
            <a:spLocks xmlns:a="http://schemas.openxmlformats.org/drawingml/2006/main" noGrp="1"/>
          </p:cNvSpPr>
          <p:nvPr/>
        </p:nvSpPr>
        <p:spPr>
          <a:xfrm xmlns:a="http://schemas.openxmlformats.org/drawingml/2006/main">
            <a:off x="11334750" y="64389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9D1D7"/>
                </a:solidFill>
                <a:latin typeface="Arial"/>
                <a:ea typeface="Arial"/>
                <a:cs typeface="Arial"/>
              </a:defRPr>
            </a:pPr>
            <a:r>
              <a:rPr sz="1200" b="0">
                <a:solidFill>
                  <a:srgbClr val="B9D1D7"/>
                </a:solidFill>
                <a:latin typeface="Arial"/>
                <a:ea typeface="Arial"/>
                <a:cs typeface="Arial"/>
              </a:rPr>
              <a:t>06</a:t>
            </a:r>
          </a:p>
        </p:txBody>
      </p:sp>
    </p:spTree>
    <p:extLst>
      <p:ext uri="{BB962C8B-B14F-4D97-AF65-F5344CB8AC3E}">
        <p14:creationId xmlns:p14="http://schemas.microsoft.com/office/powerpoint/2010/main" val="851331835"/>
      </p:ext>
    </p:extLst>
  </p:cSld>
</p:sld>
</file>

<file path=ppt/slides/slide7.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B341297-6F21-4E35-B0F6-AF7C57ABCFC8}"/>
              </a:ext>
            </a:extLst>
          </p:cNvPr>
          <p:cNvSpPr>
            <a:spLocks xmlns:a="http://schemas.openxmlformats.org/drawingml/2006/main" noGrp="1"/>
          </p:cNvSpPr>
          <p:nvPr/>
        </p:nvSpPr>
        <p:spPr>
          <a:xfrm xmlns:a="http://schemas.openxmlformats.org/drawingml/2006/main">
            <a:off x="609600" y="52387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303D"/>
                </a:solidFill>
                <a:latin typeface="Arial"/>
                <a:ea typeface="Arial"/>
                <a:cs typeface="Arial"/>
              </a:defRPr>
            </a:pPr>
            <a:r>
              <a:rPr sz="3450" b="1">
                <a:solidFill>
                  <a:srgbClr val="12303D"/>
                </a:solidFill>
                <a:latin typeface="Arial"/>
                <a:ea typeface="Arial"/>
                <a:cs typeface="Arial"/>
              </a:rPr>
              <a:t>Historical context has a time boundary</a:t>
            </a:r>
          </a:p>
        </p:txBody>
      </p:sp>
      <p:sp>
        <p:nvSpPr>
          <p:cNvPr id="2" name="">
            <a:extLst xmlns:a="http://schemas.openxmlformats.org/drawingml/2006/main">
              <a:ext uri="{FF2B5EF4-FFF2-40B4-BE49-F238E27FC236}">
                <a16:creationId xmlns:a16="http://schemas.microsoft.com/office/drawing/2014/main" id="{D8A9A4DD-39D4-4AEF-8897-EB2751B9745D}"/>
              </a:ext>
            </a:extLst>
          </p:cNvPr>
          <p:cNvSpPr>
            <a:spLocks xmlns:a="http://schemas.openxmlformats.org/drawingml/2006/main" noGrp="1"/>
          </p:cNvSpPr>
          <p:nvPr/>
        </p:nvSpPr>
        <p:spPr>
          <a:xfrm xmlns:a="http://schemas.openxmlformats.org/drawingml/2006/main">
            <a:off x="609600" y="19050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247988"/>
                </a:solidFill>
                <a:latin typeface="Arial"/>
                <a:ea typeface="Arial"/>
                <a:cs typeface="Arial"/>
              </a:defRPr>
            </a:pPr>
            <a:r>
              <a:rPr sz="2850" b="1">
                <a:solidFill>
                  <a:srgbClr val="247988"/>
                </a:solidFill>
                <a:latin typeface="Arial"/>
                <a:ea typeface="Arial"/>
                <a:cs typeface="Arial"/>
              </a:rPr>
              <a:t>Published before the cutoff</a:t>
            </a:r>
          </a:p>
        </p:txBody>
      </p:sp>
      <p:sp>
        <p:nvSpPr>
          <p:cNvPr id="3" name="">
            <a:extLst xmlns:a="http://schemas.openxmlformats.org/drawingml/2006/main">
              <a:ext uri="{FF2B5EF4-FFF2-40B4-BE49-F238E27FC236}">
                <a16:creationId xmlns:a16="http://schemas.microsoft.com/office/drawing/2014/main" id="{7D828FA7-0750-4748-95C9-8E57B76A6CC6}"/>
              </a:ext>
            </a:extLst>
          </p:cNvPr>
          <p:cNvSpPr>
            <a:spLocks xmlns:a="http://schemas.openxmlformats.org/drawingml/2006/main" noGrp="1"/>
          </p:cNvSpPr>
          <p:nvPr/>
        </p:nvSpPr>
        <p:spPr>
          <a:xfrm xmlns:a="http://schemas.openxmlformats.org/drawingml/2006/main">
            <a:off x="609600" y="26670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12303D"/>
                </a:solidFill>
                <a:latin typeface="Arial"/>
                <a:ea typeface="Arial"/>
                <a:cs typeface="Arial"/>
              </a:defRPr>
            </a:pPr>
            <a:r>
              <a:rPr sz="2625" b="0">
                <a:solidFill>
                  <a:srgbClr val="12303D"/>
                </a:solidFill>
                <a:latin typeface="Arial"/>
                <a:ea typeface="Arial"/>
                <a:cs typeface="Arial"/>
              </a:rPr>
              <a:t>Reference period ends by the cutoff</a:t>
            </a:r>
          </a:p>
        </p:txBody>
      </p:sp>
      <p:sp>
        <p:nvSpPr>
          <p:cNvPr id="4" name="">
            <a:extLst xmlns:a="http://schemas.openxmlformats.org/drawingml/2006/main">
              <a:ext uri="{FF2B5EF4-FFF2-40B4-BE49-F238E27FC236}">
                <a16:creationId xmlns:a16="http://schemas.microsoft.com/office/drawing/2014/main" id="{EA42187A-4C3C-45D4-9A81-F2F99D324A56}"/>
              </a:ext>
            </a:extLst>
          </p:cNvPr>
          <p:cNvSpPr>
            <a:spLocks xmlns:a="http://schemas.openxmlformats.org/drawingml/2006/main" noGrp="1"/>
          </p:cNvSpPr>
          <p:nvPr/>
        </p:nvSpPr>
        <p:spPr>
          <a:xfrm xmlns:a="http://schemas.openxmlformats.org/drawingml/2006/main">
            <a:off x="609600" y="390525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9717B"/>
                </a:solidFill>
                <a:latin typeface="Arial"/>
                <a:ea typeface="Arial"/>
                <a:cs typeface="Arial"/>
              </a:defRPr>
            </a:pPr>
            <a:r>
              <a:rPr sz="1800" b="0">
                <a:solidFill>
                  <a:srgbClr val="59717B"/>
                </a:solidFill>
                <a:latin typeface="Arial"/>
                <a:ea typeface="Arial"/>
                <a:cs typeface="Arial"/>
              </a:rPr>
              <a:t>Maximum source age</a:t>
            </a:r>
          </a:p>
        </p:txBody>
      </p:sp>
      <p:sp>
        <p:nvSpPr>
          <p:cNvPr id="5" name="">
            <a:extLst xmlns:a="http://schemas.openxmlformats.org/drawingml/2006/main">
              <a:ext uri="{FF2B5EF4-FFF2-40B4-BE49-F238E27FC236}">
                <a16:creationId xmlns:a16="http://schemas.microsoft.com/office/drawing/2014/main" id="{FF432492-12EA-4383-9D20-7263B855B473}"/>
              </a:ext>
            </a:extLst>
          </p:cNvPr>
          <p:cNvSpPr>
            <a:spLocks xmlns:a="http://schemas.openxmlformats.org/drawingml/2006/main" noGrp="1"/>
          </p:cNvSpPr>
          <p:nvPr/>
        </p:nvSpPr>
        <p:spPr>
          <a:xfrm xmlns:a="http://schemas.openxmlformats.org/drawingml/2006/main">
            <a:off x="609600" y="4505325"/>
            <a:ext cx="328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2303D"/>
                </a:solidFill>
                <a:latin typeface="Arial"/>
                <a:ea typeface="Arial"/>
                <a:cs typeface="Arial"/>
              </a:defRPr>
            </a:pPr>
            <a:r>
              <a:rPr sz="3600" b="1">
                <a:solidFill>
                  <a:srgbClr val="12303D"/>
                </a:solidFill>
                <a:latin typeface="Arial"/>
                <a:ea typeface="Arial"/>
                <a:cs typeface="Arial"/>
              </a:rPr>
              <a:t>120 days</a:t>
            </a:r>
          </a:p>
        </p:txBody>
      </p:sp>
      <p:sp>
        <p:nvSpPr>
          <p:cNvPr id="6" name="">
            <a:extLst xmlns:a="http://schemas.openxmlformats.org/drawingml/2006/main">
              <a:ext uri="{FF2B5EF4-FFF2-40B4-BE49-F238E27FC236}">
                <a16:creationId xmlns:a16="http://schemas.microsoft.com/office/drawing/2014/main" id="{E3E85280-5DB7-4205-A0B8-16693E0728DE}"/>
              </a:ext>
            </a:extLst>
          </p:cNvPr>
          <p:cNvSpPr>
            <a:spLocks xmlns:a="http://schemas.openxmlformats.org/drawingml/2006/main" noGrp="1"/>
          </p:cNvSpPr>
          <p:nvPr/>
        </p:nvSpPr>
        <p:spPr>
          <a:xfrm xmlns:a="http://schemas.openxmlformats.org/drawingml/2006/main">
            <a:off x="609600" y="5381625"/>
            <a:ext cx="323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2303D"/>
                </a:solidFill>
                <a:latin typeface="Arial"/>
                <a:ea typeface="Arial"/>
                <a:cs typeface="Arial"/>
              </a:defRPr>
            </a:pPr>
            <a:r>
              <a:rPr sz="1950" b="0">
                <a:solidFill>
                  <a:srgbClr val="12303D"/>
                </a:solidFill>
                <a:latin typeface="Arial"/>
                <a:ea typeface="Arial"/>
                <a:cs typeface="Arial"/>
              </a:rPr>
              <a:t>Unemployment</a:t>
            </a:r>
          </a:p>
        </p:txBody>
      </p:sp>
      <p:sp>
        <p:nvSpPr>
          <p:cNvPr id="7" name="">
            <a:extLst xmlns:a="http://schemas.openxmlformats.org/drawingml/2006/main">
              <a:ext uri="{FF2B5EF4-FFF2-40B4-BE49-F238E27FC236}">
                <a16:creationId xmlns:a16="http://schemas.microsoft.com/office/drawing/2014/main" id="{917FB016-6764-4DE4-A5E9-805EB38811EA}"/>
              </a:ext>
            </a:extLst>
          </p:cNvPr>
          <p:cNvSpPr>
            <a:spLocks xmlns:a="http://schemas.openxmlformats.org/drawingml/2006/main" noGrp="1"/>
          </p:cNvSpPr>
          <p:nvPr/>
        </p:nvSpPr>
        <p:spPr>
          <a:xfrm xmlns:a="http://schemas.openxmlformats.org/drawingml/2006/main">
            <a:off x="4476750" y="4505325"/>
            <a:ext cx="328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2303D"/>
                </a:solidFill>
                <a:latin typeface="Arial"/>
                <a:ea typeface="Arial"/>
                <a:cs typeface="Arial"/>
              </a:defRPr>
            </a:pPr>
            <a:r>
              <a:rPr sz="3600" b="1">
                <a:solidFill>
                  <a:srgbClr val="12303D"/>
                </a:solidFill>
                <a:latin typeface="Arial"/>
                <a:ea typeface="Arial"/>
                <a:cs typeface="Arial"/>
              </a:rPr>
              <a:t>240 days</a:t>
            </a:r>
          </a:p>
        </p:txBody>
      </p:sp>
      <p:sp>
        <p:nvSpPr>
          <p:cNvPr id="8" name="">
            <a:extLst xmlns:a="http://schemas.openxmlformats.org/drawingml/2006/main">
              <a:ext uri="{FF2B5EF4-FFF2-40B4-BE49-F238E27FC236}">
                <a16:creationId xmlns:a16="http://schemas.microsoft.com/office/drawing/2014/main" id="{06052747-643B-4909-8165-BAB98EB12CE6}"/>
              </a:ext>
            </a:extLst>
          </p:cNvPr>
          <p:cNvSpPr>
            <a:spLocks xmlns:a="http://schemas.openxmlformats.org/drawingml/2006/main" noGrp="1"/>
          </p:cNvSpPr>
          <p:nvPr/>
        </p:nvSpPr>
        <p:spPr>
          <a:xfrm xmlns:a="http://schemas.openxmlformats.org/drawingml/2006/main">
            <a:off x="4476750" y="5381625"/>
            <a:ext cx="323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2303D"/>
                </a:solidFill>
                <a:latin typeface="Arial"/>
                <a:ea typeface="Arial"/>
                <a:cs typeface="Arial"/>
              </a:defRPr>
            </a:pPr>
            <a:r>
              <a:rPr sz="1950" b="0">
                <a:solidFill>
                  <a:srgbClr val="12303D"/>
                </a:solidFill>
                <a:latin typeface="Arial"/>
                <a:ea typeface="Arial"/>
                <a:cs typeface="Arial"/>
              </a:rPr>
              <a:t>Vacancy rate</a:t>
            </a:r>
          </a:p>
        </p:txBody>
      </p:sp>
      <p:sp>
        <p:nvSpPr>
          <p:cNvPr id="9" name="">
            <a:extLst xmlns:a="http://schemas.openxmlformats.org/drawingml/2006/main">
              <a:ext uri="{FF2B5EF4-FFF2-40B4-BE49-F238E27FC236}">
                <a16:creationId xmlns:a16="http://schemas.microsoft.com/office/drawing/2014/main" id="{6A0F2D68-8268-4E92-B100-5FDFDF8DB5D7}"/>
              </a:ext>
            </a:extLst>
          </p:cNvPr>
          <p:cNvSpPr>
            <a:spLocks xmlns:a="http://schemas.openxmlformats.org/drawingml/2006/main" noGrp="1"/>
          </p:cNvSpPr>
          <p:nvPr/>
        </p:nvSpPr>
        <p:spPr>
          <a:xfrm xmlns:a="http://schemas.openxmlformats.org/drawingml/2006/main">
            <a:off x="8334375" y="4505325"/>
            <a:ext cx="328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2303D"/>
                </a:solidFill>
                <a:latin typeface="Arial"/>
                <a:ea typeface="Arial"/>
                <a:cs typeface="Arial"/>
              </a:defRPr>
            </a:pPr>
            <a:r>
              <a:rPr sz="3600" b="1">
                <a:solidFill>
                  <a:srgbClr val="12303D"/>
                </a:solidFill>
                <a:latin typeface="Arial"/>
                <a:ea typeface="Arial"/>
                <a:cs typeface="Arial"/>
              </a:rPr>
              <a:t>730 days</a:t>
            </a:r>
          </a:p>
        </p:txBody>
      </p:sp>
      <p:sp>
        <p:nvSpPr>
          <p:cNvPr id="10" name="">
            <a:extLst xmlns:a="http://schemas.openxmlformats.org/drawingml/2006/main">
              <a:ext uri="{FF2B5EF4-FFF2-40B4-BE49-F238E27FC236}">
                <a16:creationId xmlns:a16="http://schemas.microsoft.com/office/drawing/2014/main" id="{6CF356FE-B24E-44EF-82B5-6422DDBD10A4}"/>
              </a:ext>
            </a:extLst>
          </p:cNvPr>
          <p:cNvSpPr>
            <a:spLocks xmlns:a="http://schemas.openxmlformats.org/drawingml/2006/main" noGrp="1"/>
          </p:cNvSpPr>
          <p:nvPr/>
        </p:nvSpPr>
        <p:spPr>
          <a:xfrm xmlns:a="http://schemas.openxmlformats.org/drawingml/2006/main">
            <a:off x="8334375" y="5381625"/>
            <a:ext cx="323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2303D"/>
                </a:solidFill>
                <a:latin typeface="Arial"/>
                <a:ea typeface="Arial"/>
                <a:cs typeface="Arial"/>
              </a:defRPr>
            </a:pPr>
            <a:r>
              <a:rPr sz="1950" b="0">
                <a:solidFill>
                  <a:srgbClr val="12303D"/>
                </a:solidFill>
                <a:latin typeface="Arial"/>
                <a:ea typeface="Arial"/>
                <a:cs typeface="Arial"/>
              </a:rPr>
              <a:t>Annual CPI</a:t>
            </a:r>
          </a:p>
        </p:txBody>
      </p:sp>
      <p:sp>
        <p:nvSpPr>
          <p:cNvPr id="11" name="">
            <a:extLst xmlns:a="http://schemas.openxmlformats.org/drawingml/2006/main">
              <a:ext uri="{FF2B5EF4-FFF2-40B4-BE49-F238E27FC236}">
                <a16:creationId xmlns:a16="http://schemas.microsoft.com/office/drawing/2014/main" id="{36276AD3-86B0-4441-B03A-0962917032B1}"/>
              </a:ext>
            </a:extLst>
          </p:cNvPr>
          <p:cNvSpPr>
            <a:spLocks xmlns:a="http://schemas.openxmlformats.org/drawingml/2006/main" noGrp="1"/>
          </p:cNvSpPr>
          <p:nvPr/>
        </p:nvSpPr>
        <p:spPr>
          <a:xfrm xmlns:a="http://schemas.openxmlformats.org/drawingml/2006/main">
            <a:off x="609600" y="61817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9717B"/>
                </a:solidFill>
                <a:latin typeface="Arial"/>
                <a:ea typeface="Arial"/>
                <a:cs typeface="Arial"/>
              </a:defRPr>
            </a:pPr>
            <a:r>
              <a:rPr sz="1650" b="0">
                <a:solidFill>
                  <a:srgbClr val="59717B"/>
                </a:solidFill>
                <a:latin typeface="Arial"/>
                <a:ea typeface="Arial"/>
                <a:cs typeface="Arial"/>
              </a:rPr>
              <a:t>Retention cutoff: hire date. Turnover cutoff: start of the annual window.</a:t>
            </a:r>
          </a:p>
        </p:txBody>
      </p:sp>
      <p:sp>
        <p:nvSpPr>
          <p:cNvPr id="12" name="">
            <a:extLst xmlns:a="http://schemas.openxmlformats.org/drawingml/2006/main">
              <a:ext uri="{FF2B5EF4-FFF2-40B4-BE49-F238E27FC236}">
                <a16:creationId xmlns:a16="http://schemas.microsoft.com/office/drawing/2014/main" id="{041465E5-4271-48E2-A50C-A71A5840E1B4}"/>
              </a:ext>
            </a:extLst>
          </p:cNvPr>
          <p:cNvSpPr>
            <a:spLocks xmlns:a="http://schemas.openxmlformats.org/drawingml/2006/main" noGrp="1"/>
          </p:cNvSpPr>
          <p:nvPr/>
        </p:nvSpPr>
        <p:spPr>
          <a:xfrm xmlns:a="http://schemas.openxmlformats.org/drawingml/2006/main">
            <a:off x="11334750" y="64389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717B"/>
                </a:solidFill>
                <a:latin typeface="Arial"/>
                <a:ea typeface="Arial"/>
                <a:cs typeface="Arial"/>
              </a:defRPr>
            </a:pPr>
            <a:r>
              <a:rPr sz="1200" b="0">
                <a:solidFill>
                  <a:srgbClr val="59717B"/>
                </a:solidFill>
                <a:latin typeface="Arial"/>
                <a:ea typeface="Arial"/>
                <a:cs typeface="Arial"/>
              </a:rPr>
              <a:t>07</a:t>
            </a:r>
          </a:p>
        </p:txBody>
      </p:sp>
    </p:spTree>
    <p:extLst>
      <p:ext uri="{BB962C8B-B14F-4D97-AF65-F5344CB8AC3E}">
        <p14:creationId xmlns:p14="http://schemas.microsoft.com/office/powerpoint/2010/main" val="1383933417"/>
      </p:ext>
    </p:extLst>
  </p:cSld>
</p:sld>
</file>

<file path=ppt/slides/slide8.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CA3EB48-D8BC-4199-8E49-DEB4FBC66605}"/>
              </a:ext>
            </a:extLst>
          </p:cNvPr>
          <p:cNvSpPr>
            <a:spLocks xmlns:a="http://schemas.openxmlformats.org/drawingml/2006/main" noGrp="1"/>
          </p:cNvSpPr>
          <p:nvPr/>
        </p:nvSpPr>
        <p:spPr>
          <a:xfrm xmlns:a="http://schemas.openxmlformats.org/drawingml/2006/main">
            <a:off x="609600" y="52387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303D"/>
                </a:solidFill>
                <a:latin typeface="Arial"/>
                <a:ea typeface="Arial"/>
                <a:cs typeface="Arial"/>
              </a:defRPr>
            </a:pPr>
            <a:r>
              <a:rPr sz="3450" b="1">
                <a:solidFill>
                  <a:srgbClr val="12303D"/>
                </a:solidFill>
                <a:latin typeface="Arial"/>
                <a:ea typeface="Arial"/>
                <a:cs typeface="Arial"/>
              </a:rPr>
              <a:t>Coverage changes with the indicator</a:t>
            </a:r>
          </a:p>
        </p:txBody>
      </p:sp>
      <p:graphicFrame>
        <p:nvGraphicFramePr>
          <p:cNvPr id="7" name="Chart"/>
          <p:cNvGraphicFramePr/>
          <p:nvPr/>
        </p:nvGraphicFramePr>
        <p:xfrm>
          <a:off xmlns:a="http://schemas.openxmlformats.org/drawingml/2006/main" x="619125" y="1857375"/>
          <a:ext xmlns:a="http://schemas.openxmlformats.org/drawingml/2006/main" cx="10477500" cy="3429000"/>
        </p:xfrm>
        <a:graphic xmlns:a="http://schemas.openxmlformats.org/drawingml/2006/main">
          <a:graphicData uri="http://schemas.openxmlformats.org/drawingml/2006/chart">
            <c:chart xmlns:r="http://schemas.openxmlformats.org/officeDocument/2006/relationships" xmlns:c="http://schemas.openxmlformats.org/drawingml/2006/chart" r:id="R75f01c0be1794ce3"/>
          </a:graphicData>
        </a:graphic>
      </p:graphicFrame>
      <p:sp>
        <p:nvSpPr>
          <p:cNvPr id="3" name="">
            <a:extLst xmlns:a="http://schemas.openxmlformats.org/drawingml/2006/main">
              <a:ext uri="{FF2B5EF4-FFF2-40B4-BE49-F238E27FC236}">
                <a16:creationId xmlns:a16="http://schemas.microsoft.com/office/drawing/2014/main" id="{EAE39820-7904-4B4A-9D90-3433741763B5}"/>
              </a:ext>
            </a:extLst>
          </p:cNvPr>
          <p:cNvSpPr>
            <a:spLocks xmlns:a="http://schemas.openxmlformats.org/drawingml/2006/main" noGrp="1"/>
          </p:cNvSpPr>
          <p:nvPr/>
        </p:nvSpPr>
        <p:spPr>
          <a:xfrm xmlns:a="http://schemas.openxmlformats.org/drawingml/2006/main">
            <a:off x="666750" y="547687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2303D"/>
                </a:solidFill>
                <a:latin typeface="Arial"/>
                <a:ea typeface="Arial"/>
                <a:cs typeface="Arial"/>
              </a:defRPr>
            </a:pPr>
            <a:r>
              <a:rPr sz="2250" b="1">
                <a:solidFill>
                  <a:srgbClr val="12303D"/>
                </a:solidFill>
                <a:latin typeface="Arial"/>
                <a:ea typeface="Arial"/>
                <a:cs typeface="Arial"/>
              </a:rPr>
              <a:t>1,813 mature hires in the six-month population</a:t>
            </a:r>
          </a:p>
        </p:txBody>
      </p:sp>
      <p:sp>
        <p:nvSpPr>
          <p:cNvPr id="4" name="">
            <a:extLst xmlns:a="http://schemas.openxmlformats.org/drawingml/2006/main">
              <a:ext uri="{FF2B5EF4-FFF2-40B4-BE49-F238E27FC236}">
                <a16:creationId xmlns:a16="http://schemas.microsoft.com/office/drawing/2014/main" id="{7BD34334-AC3B-4E5B-AD9F-E9BD948AB392}"/>
              </a:ext>
            </a:extLst>
          </p:cNvPr>
          <p:cNvSpPr>
            <a:spLocks xmlns:a="http://schemas.openxmlformats.org/drawingml/2006/main" noGrp="1"/>
          </p:cNvSpPr>
          <p:nvPr/>
        </p:nvSpPr>
        <p:spPr>
          <a:xfrm xmlns:a="http://schemas.openxmlformats.org/drawingml/2006/main">
            <a:off x="666750" y="607695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9717B"/>
                </a:solidFill>
                <a:latin typeface="Arial"/>
                <a:ea typeface="Arial"/>
                <a:cs typeface="Arial"/>
              </a:defRPr>
            </a:pPr>
            <a:r>
              <a:rPr sz="1650" b="0">
                <a:solidFill>
                  <a:srgbClr val="59717B"/>
                </a:solidFill>
                <a:latin typeface="Arial"/>
                <a:ea typeface="Arial"/>
                <a:cs typeface="Arial"/>
              </a:rPr>
              <a:t>B-F covers industry and construction. Missing evidence does not remove KPI records.</a:t>
            </a:r>
          </a:p>
        </p:txBody>
      </p:sp>
      <p:sp>
        <p:nvSpPr>
          <p:cNvPr id="5" name="">
            <a:extLst xmlns:a="http://schemas.openxmlformats.org/drawingml/2006/main">
              <a:ext uri="{FF2B5EF4-FFF2-40B4-BE49-F238E27FC236}">
                <a16:creationId xmlns:a16="http://schemas.microsoft.com/office/drawing/2014/main" id="{24B551E4-B225-4C59-9B90-1CCCF0E27333}"/>
              </a:ext>
            </a:extLst>
          </p:cNvPr>
          <p:cNvSpPr>
            <a:spLocks xmlns:a="http://schemas.openxmlformats.org/drawingml/2006/main" noGrp="1"/>
          </p:cNvSpPr>
          <p:nvPr/>
        </p:nvSpPr>
        <p:spPr>
          <a:xfrm xmlns:a="http://schemas.openxmlformats.org/drawingml/2006/main">
            <a:off x="11334750" y="64389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717B"/>
                </a:solidFill>
                <a:latin typeface="Arial"/>
                <a:ea typeface="Arial"/>
                <a:cs typeface="Arial"/>
              </a:defRPr>
            </a:pPr>
            <a:r>
              <a:rPr sz="1200" b="0">
                <a:solidFill>
                  <a:srgbClr val="59717B"/>
                </a:solidFill>
                <a:latin typeface="Arial"/>
                <a:ea typeface="Arial"/>
                <a:cs typeface="Arial"/>
              </a:rPr>
              <a:t>08</a:t>
            </a:r>
          </a:p>
        </p:txBody>
      </p:sp>
    </p:spTree>
    <p:extLst>
      <p:ext uri="{BB962C8B-B14F-4D97-AF65-F5344CB8AC3E}">
        <p14:creationId xmlns:p14="http://schemas.microsoft.com/office/powerpoint/2010/main" val="321724391"/>
      </p:ext>
    </p:extLst>
  </p:cSld>
</p:sld>
</file>

<file path=ppt/slides/slide9.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A295631-33E0-43DB-8F7B-A808522149B9}"/>
              </a:ext>
            </a:extLst>
          </p:cNvPr>
          <p:cNvSpPr>
            <a:spLocks xmlns:a="http://schemas.openxmlformats.org/drawingml/2006/main" noGrp="1"/>
          </p:cNvSpPr>
          <p:nvPr/>
        </p:nvSpPr>
        <p:spPr>
          <a:xfrm xmlns:a="http://schemas.openxmlformats.org/drawingml/2006/main">
            <a:off x="609600" y="52387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303D"/>
                </a:solidFill>
                <a:latin typeface="Arial"/>
                <a:ea typeface="Arial"/>
                <a:cs typeface="Arial"/>
              </a:defRPr>
            </a:pPr>
            <a:r>
              <a:rPr sz="3450" b="1">
                <a:solidFill>
                  <a:srgbClr val="12303D"/>
                </a:solidFill>
                <a:latin typeface="Arial"/>
                <a:ea typeface="Arial"/>
                <a:cs typeface="Arial"/>
              </a:rPr>
              <a:t>Weak associations limit interpretation</a:t>
            </a:r>
          </a:p>
        </p:txBody>
      </p:sp>
      <p:graphicFrame>
        <p:nvGraphicFramePr>
          <p:cNvPr id="7" name="Chart"/>
          <p:cNvGraphicFramePr/>
          <p:nvPr/>
        </p:nvGraphicFramePr>
        <p:xfrm>
          <a:off xmlns:a="http://schemas.openxmlformats.org/drawingml/2006/main" x="619125" y="1809750"/>
          <a:ext xmlns:a="http://schemas.openxmlformats.org/drawingml/2006/main" cx="10477500" cy="3524250"/>
        </p:xfrm>
        <a:graphic xmlns:a="http://schemas.openxmlformats.org/drawingml/2006/main">
          <a:graphicData uri="http://schemas.openxmlformats.org/drawingml/2006/chart">
            <c:chart xmlns:r="http://schemas.openxmlformats.org/officeDocument/2006/relationships" xmlns:c="http://schemas.openxmlformats.org/drawingml/2006/chart" r:id="R30cf998fc4fd4113"/>
          </a:graphicData>
        </a:graphic>
      </p:graphicFrame>
      <p:sp>
        <p:nvSpPr>
          <p:cNvPr id="3" name="">
            <a:extLst xmlns:a="http://schemas.openxmlformats.org/drawingml/2006/main">
              <a:ext uri="{FF2B5EF4-FFF2-40B4-BE49-F238E27FC236}">
                <a16:creationId xmlns:a16="http://schemas.microsoft.com/office/drawing/2014/main" id="{D075F760-0E70-49AF-826D-11A83DAC91E1}"/>
              </a:ext>
            </a:extLst>
          </p:cNvPr>
          <p:cNvSpPr>
            <a:spLocks xmlns:a="http://schemas.openxmlformats.org/drawingml/2006/main" noGrp="1"/>
          </p:cNvSpPr>
          <p:nvPr/>
        </p:nvSpPr>
        <p:spPr>
          <a:xfrm xmlns:a="http://schemas.openxmlformats.org/drawingml/2006/main">
            <a:off x="666750" y="556260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2303D"/>
                </a:solidFill>
                <a:latin typeface="Arial"/>
                <a:ea typeface="Arial"/>
                <a:cs typeface="Arial"/>
              </a:defRPr>
            </a:pPr>
            <a:r>
              <a:rPr sz="2250" b="1">
                <a:solidFill>
                  <a:srgbClr val="12303D"/>
                </a:solidFill>
                <a:latin typeface="Arial"/>
                <a:ea typeface="Arial"/>
                <a:cs typeface="Arial"/>
              </a:rPr>
              <a:t>Six-month retention in synthetic matched cohorts</a:t>
            </a:r>
          </a:p>
        </p:txBody>
      </p:sp>
      <p:sp>
        <p:nvSpPr>
          <p:cNvPr id="4" name="">
            <a:extLst xmlns:a="http://schemas.openxmlformats.org/drawingml/2006/main">
              <a:ext uri="{FF2B5EF4-FFF2-40B4-BE49-F238E27FC236}">
                <a16:creationId xmlns:a16="http://schemas.microsoft.com/office/drawing/2014/main" id="{57E637DF-EC1C-4BFD-8DDC-5C5839EF0879}"/>
              </a:ext>
            </a:extLst>
          </p:cNvPr>
          <p:cNvSpPr>
            <a:spLocks xmlns:a="http://schemas.openxmlformats.org/drawingml/2006/main" noGrp="1"/>
          </p:cNvSpPr>
          <p:nvPr/>
        </p:nvSpPr>
        <p:spPr>
          <a:xfrm xmlns:a="http://schemas.openxmlformats.org/drawingml/2006/main">
            <a:off x="666750" y="611505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717B"/>
                </a:solidFill>
                <a:latin typeface="Arial"/>
                <a:ea typeface="Arial"/>
                <a:cs typeface="Arial"/>
              </a:defRPr>
            </a:pPr>
            <a:r>
              <a:rPr sz="1725" b="0">
                <a:solidFill>
                  <a:srgbClr val="59717B"/>
                </a:solidFill>
                <a:latin typeface="Arial"/>
                <a:ea typeface="Arial"/>
                <a:cs typeface="Arial"/>
              </a:rPr>
              <a:t>Small cohorts, reused vintages and selection prevent causal conclusions.</a:t>
            </a:r>
          </a:p>
        </p:txBody>
      </p:sp>
      <p:sp>
        <p:nvSpPr>
          <p:cNvPr id="5" name="">
            <a:extLst xmlns:a="http://schemas.openxmlformats.org/drawingml/2006/main">
              <a:ext uri="{FF2B5EF4-FFF2-40B4-BE49-F238E27FC236}">
                <a16:creationId xmlns:a16="http://schemas.microsoft.com/office/drawing/2014/main" id="{E54D4B6D-6F44-4E7C-B0BE-4090A22BBF7D}"/>
              </a:ext>
            </a:extLst>
          </p:cNvPr>
          <p:cNvSpPr>
            <a:spLocks xmlns:a="http://schemas.openxmlformats.org/drawingml/2006/main" noGrp="1"/>
          </p:cNvSpPr>
          <p:nvPr/>
        </p:nvSpPr>
        <p:spPr>
          <a:xfrm xmlns:a="http://schemas.openxmlformats.org/drawingml/2006/main">
            <a:off x="11334750" y="64389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717B"/>
                </a:solidFill>
                <a:latin typeface="Arial"/>
                <a:ea typeface="Arial"/>
                <a:cs typeface="Arial"/>
              </a:defRPr>
            </a:pPr>
            <a:r>
              <a:rPr sz="1200" b="0">
                <a:solidFill>
                  <a:srgbClr val="59717B"/>
                </a:solidFill>
                <a:latin typeface="Arial"/>
                <a:ea typeface="Arial"/>
                <a:cs typeface="Arial"/>
              </a:rPr>
              <a:t>09</a:t>
            </a:r>
          </a:p>
        </p:txBody>
      </p:sp>
    </p:spTree>
    <p:extLst>
      <p:ext uri="{BB962C8B-B14F-4D97-AF65-F5344CB8AC3E}">
        <p14:creationId xmlns:p14="http://schemas.microsoft.com/office/powerpoint/2010/main" val="389625004"/>
      </p:ext>
    </p:extLst>
  </p:cSld>
</p:sld>
</file>

<file path=ppt/slides/slide10.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6969A80-958B-4B72-90AB-62BB54338320}"/>
              </a:ext>
            </a:extLst>
          </p:cNvPr>
          <p:cNvSpPr>
            <a:spLocks xmlns:a="http://schemas.openxmlformats.org/drawingml/2006/main" noGrp="1"/>
          </p:cNvSpPr>
          <p:nvPr/>
        </p:nvSpPr>
        <p:spPr>
          <a:xfrm xmlns:a="http://schemas.openxmlformats.org/drawingml/2006/main">
            <a:off x="609600" y="52387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303D"/>
                </a:solidFill>
                <a:latin typeface="Arial"/>
                <a:ea typeface="Arial"/>
                <a:cs typeface="Arial"/>
              </a:defRPr>
            </a:pPr>
            <a:r>
              <a:rPr sz="3450" b="1">
                <a:solidFill>
                  <a:srgbClr val="12303D"/>
                </a:solidFill>
                <a:latin typeface="Arial"/>
                <a:ea typeface="Arial"/>
                <a:cs typeface="Arial"/>
              </a:rPr>
              <a:t>The working solution uses Python and HTML</a:t>
            </a:r>
          </a:p>
        </p:txBody>
      </p:sp>
      <p:sp>
        <p:nvSpPr>
          <p:cNvPr id="2" name="">
            <a:extLst xmlns:a="http://schemas.openxmlformats.org/drawingml/2006/main">
              <a:ext uri="{FF2B5EF4-FFF2-40B4-BE49-F238E27FC236}">
                <a16:creationId xmlns:a16="http://schemas.microsoft.com/office/drawing/2014/main" id="{8D659A01-6B39-4328-B4C7-EAE2C9677D75}"/>
              </a:ext>
            </a:extLst>
          </p:cNvPr>
          <p:cNvSpPr>
            <a:spLocks xmlns:a="http://schemas.openxmlformats.org/drawingml/2006/main" noGrp="1"/>
          </p:cNvSpPr>
          <p:nvPr/>
        </p:nvSpPr>
        <p:spPr>
          <a:xfrm xmlns:a="http://schemas.openxmlformats.org/drawingml/2006/main">
            <a:off x="619125" y="1952625"/>
            <a:ext cx="95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247988"/>
                </a:solidFill>
                <a:latin typeface="Arial"/>
                <a:ea typeface="Arial"/>
                <a:cs typeface="Arial"/>
              </a:defRPr>
            </a:pPr>
            <a:r>
              <a:rPr sz="3525" b="1">
                <a:solidFill>
                  <a:srgbClr val="247988"/>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6088BF58-D320-4043-A308-4B85139F5894}"/>
              </a:ext>
            </a:extLst>
          </p:cNvPr>
          <p:cNvSpPr>
            <a:spLocks xmlns:a="http://schemas.openxmlformats.org/drawingml/2006/main" noGrp="1"/>
          </p:cNvSpPr>
          <p:nvPr/>
        </p:nvSpPr>
        <p:spPr>
          <a:xfrm xmlns:a="http://schemas.openxmlformats.org/drawingml/2006/main">
            <a:off x="1857375" y="1952625"/>
            <a:ext cx="266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2303D"/>
                </a:solidFill>
                <a:latin typeface="Arial"/>
                <a:ea typeface="Arial"/>
                <a:cs typeface="Arial"/>
              </a:defRPr>
            </a:pPr>
            <a:r>
              <a:rPr sz="3225" b="1">
                <a:solidFill>
                  <a:srgbClr val="12303D"/>
                </a:solidFill>
                <a:latin typeface="Arial"/>
                <a:ea typeface="Arial"/>
                <a:cs typeface="Arial"/>
              </a:rPr>
              <a:t>Python</a:t>
            </a:r>
          </a:p>
        </p:txBody>
      </p:sp>
      <p:sp>
        <p:nvSpPr>
          <p:cNvPr id="4" name="">
            <a:extLst xmlns:a="http://schemas.openxmlformats.org/drawingml/2006/main">
              <a:ext uri="{FF2B5EF4-FFF2-40B4-BE49-F238E27FC236}">
                <a16:creationId xmlns:a16="http://schemas.microsoft.com/office/drawing/2014/main" id="{6495D029-7DFD-439A-9108-59BDF11695A2}"/>
              </a:ext>
            </a:extLst>
          </p:cNvPr>
          <p:cNvSpPr>
            <a:spLocks xmlns:a="http://schemas.openxmlformats.org/drawingml/2006/main" noGrp="1"/>
          </p:cNvSpPr>
          <p:nvPr/>
        </p:nvSpPr>
        <p:spPr>
          <a:xfrm xmlns:a="http://schemas.openxmlformats.org/drawingml/2006/main">
            <a:off x="4905375" y="2038350"/>
            <a:ext cx="657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2303D"/>
                </a:solidFill>
                <a:latin typeface="Arial"/>
                <a:ea typeface="Arial"/>
                <a:cs typeface="Arial"/>
              </a:defRPr>
            </a:pPr>
            <a:r>
              <a:rPr sz="2100" b="0">
                <a:solidFill>
                  <a:srgbClr val="12303D"/>
                </a:solidFill>
                <a:latin typeface="Arial"/>
                <a:ea typeface="Arial"/>
                <a:cs typeface="Arial"/>
              </a:rPr>
              <a:t>Cleaning, metrics and temporal joins</a:t>
            </a:r>
          </a:p>
        </p:txBody>
      </p:sp>
      <p:sp>
        <p:nvSpPr>
          <p:cNvPr id="5" name="">
            <a:extLst xmlns:a="http://schemas.openxmlformats.org/drawingml/2006/main">
              <a:ext uri="{FF2B5EF4-FFF2-40B4-BE49-F238E27FC236}">
                <a16:creationId xmlns:a16="http://schemas.microsoft.com/office/drawing/2014/main" id="{D2AE74E4-53E7-4650-9F83-FE4B4FAD67CC}"/>
              </a:ext>
            </a:extLst>
          </p:cNvPr>
          <p:cNvSpPr>
            <a:spLocks xmlns:a="http://schemas.openxmlformats.org/drawingml/2006/main" noGrp="1"/>
          </p:cNvSpPr>
          <p:nvPr/>
        </p:nvSpPr>
        <p:spPr>
          <a:xfrm xmlns:a="http://schemas.openxmlformats.org/drawingml/2006/main">
            <a:off x="619125" y="3143250"/>
            <a:ext cx="95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247988"/>
                </a:solidFill>
                <a:latin typeface="Arial"/>
                <a:ea typeface="Arial"/>
                <a:cs typeface="Arial"/>
              </a:defRPr>
            </a:pPr>
            <a:r>
              <a:rPr sz="3525" b="1">
                <a:solidFill>
                  <a:srgbClr val="247988"/>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89EF3DBF-117A-48BA-8392-A5A01EB3F3B7}"/>
              </a:ext>
            </a:extLst>
          </p:cNvPr>
          <p:cNvSpPr>
            <a:spLocks xmlns:a="http://schemas.openxmlformats.org/drawingml/2006/main" noGrp="1"/>
          </p:cNvSpPr>
          <p:nvPr/>
        </p:nvSpPr>
        <p:spPr>
          <a:xfrm xmlns:a="http://schemas.openxmlformats.org/drawingml/2006/main">
            <a:off x="1857375" y="3143250"/>
            <a:ext cx="266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2303D"/>
                </a:solidFill>
                <a:latin typeface="Arial"/>
                <a:ea typeface="Arial"/>
                <a:cs typeface="Arial"/>
              </a:defRPr>
            </a:pPr>
            <a:r>
              <a:rPr sz="3225" b="1">
                <a:solidFill>
                  <a:srgbClr val="12303D"/>
                </a:solidFill>
                <a:latin typeface="Arial"/>
                <a:ea typeface="Arial"/>
                <a:cs typeface="Arial"/>
              </a:rPr>
              <a:t>SQLite</a:t>
            </a:r>
          </a:p>
        </p:txBody>
      </p:sp>
      <p:sp>
        <p:nvSpPr>
          <p:cNvPr id="7" name="">
            <a:extLst xmlns:a="http://schemas.openxmlformats.org/drawingml/2006/main">
              <a:ext uri="{FF2B5EF4-FFF2-40B4-BE49-F238E27FC236}">
                <a16:creationId xmlns:a16="http://schemas.microsoft.com/office/drawing/2014/main" id="{354FDA91-CCFE-4FCF-970D-58FE357E5273}"/>
              </a:ext>
            </a:extLst>
          </p:cNvPr>
          <p:cNvSpPr>
            <a:spLocks xmlns:a="http://schemas.openxmlformats.org/drawingml/2006/main" noGrp="1"/>
          </p:cNvSpPr>
          <p:nvPr/>
        </p:nvSpPr>
        <p:spPr>
          <a:xfrm xmlns:a="http://schemas.openxmlformats.org/drawingml/2006/main">
            <a:off x="4905375" y="3228975"/>
            <a:ext cx="657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2303D"/>
                </a:solidFill>
                <a:latin typeface="Arial"/>
                <a:ea typeface="Arial"/>
                <a:cs typeface="Arial"/>
              </a:defRPr>
            </a:pPr>
            <a:r>
              <a:rPr sz="2100" b="0">
                <a:solidFill>
                  <a:srgbClr val="12303D"/>
                </a:solidFill>
                <a:latin typeface="Arial"/>
                <a:ea typeface="Arial"/>
                <a:cs typeface="Arial"/>
              </a:rPr>
              <a:t>Reconciled reporting views</a:t>
            </a:r>
          </a:p>
        </p:txBody>
      </p:sp>
      <p:sp>
        <p:nvSpPr>
          <p:cNvPr id="8" name="">
            <a:extLst xmlns:a="http://schemas.openxmlformats.org/drawingml/2006/main">
              <a:ext uri="{FF2B5EF4-FFF2-40B4-BE49-F238E27FC236}">
                <a16:creationId xmlns:a16="http://schemas.microsoft.com/office/drawing/2014/main" id="{5568BBDA-5824-4B2D-BCCC-0BE3B8131E6C}"/>
              </a:ext>
            </a:extLst>
          </p:cNvPr>
          <p:cNvSpPr>
            <a:spLocks xmlns:a="http://schemas.openxmlformats.org/drawingml/2006/main" noGrp="1"/>
          </p:cNvSpPr>
          <p:nvPr/>
        </p:nvSpPr>
        <p:spPr>
          <a:xfrm xmlns:a="http://schemas.openxmlformats.org/drawingml/2006/main">
            <a:off x="619125" y="4333875"/>
            <a:ext cx="95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247988"/>
                </a:solidFill>
                <a:latin typeface="Arial"/>
                <a:ea typeface="Arial"/>
                <a:cs typeface="Arial"/>
              </a:defRPr>
            </a:pPr>
            <a:r>
              <a:rPr sz="3525" b="1">
                <a:solidFill>
                  <a:srgbClr val="247988"/>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06E97022-3F82-45ED-A851-E574A4B9B60C}"/>
              </a:ext>
            </a:extLst>
          </p:cNvPr>
          <p:cNvSpPr>
            <a:spLocks xmlns:a="http://schemas.openxmlformats.org/drawingml/2006/main" noGrp="1"/>
          </p:cNvSpPr>
          <p:nvPr/>
        </p:nvSpPr>
        <p:spPr>
          <a:xfrm xmlns:a="http://schemas.openxmlformats.org/drawingml/2006/main">
            <a:off x="1857375" y="4333875"/>
            <a:ext cx="266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2303D"/>
                </a:solidFill>
                <a:latin typeface="Arial"/>
                <a:ea typeface="Arial"/>
                <a:cs typeface="Arial"/>
              </a:defRPr>
            </a:pPr>
            <a:r>
              <a:rPr sz="3225" b="1">
                <a:solidFill>
                  <a:srgbClr val="12303D"/>
                </a:solidFill>
                <a:latin typeface="Arial"/>
                <a:ea typeface="Arial"/>
                <a:cs typeface="Arial"/>
              </a:rPr>
              <a:t>HTML</a:t>
            </a:r>
          </a:p>
        </p:txBody>
      </p:sp>
      <p:sp>
        <p:nvSpPr>
          <p:cNvPr id="10" name="">
            <a:extLst xmlns:a="http://schemas.openxmlformats.org/drawingml/2006/main">
              <a:ext uri="{FF2B5EF4-FFF2-40B4-BE49-F238E27FC236}">
                <a16:creationId xmlns:a16="http://schemas.microsoft.com/office/drawing/2014/main" id="{E9144732-A618-459C-86E4-6B24C55D49D1}"/>
              </a:ext>
            </a:extLst>
          </p:cNvPr>
          <p:cNvSpPr>
            <a:spLocks xmlns:a="http://schemas.openxmlformats.org/drawingml/2006/main" noGrp="1"/>
          </p:cNvSpPr>
          <p:nvPr/>
        </p:nvSpPr>
        <p:spPr>
          <a:xfrm xmlns:a="http://schemas.openxmlformats.org/drawingml/2006/main">
            <a:off x="4905375" y="4419600"/>
            <a:ext cx="657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2303D"/>
                </a:solidFill>
                <a:latin typeface="Arial"/>
                <a:ea typeface="Arial"/>
                <a:cs typeface="Arial"/>
              </a:defRPr>
            </a:pPr>
            <a:r>
              <a:rPr sz="2100" b="0">
                <a:solidFill>
                  <a:srgbClr val="12303D"/>
                </a:solidFill>
                <a:latin typeface="Arial"/>
                <a:ea typeface="Arial"/>
                <a:cs typeface="Arial"/>
              </a:rPr>
              <a:t>Interactive dashboard and audit context</a:t>
            </a:r>
          </a:p>
        </p:txBody>
      </p:sp>
      <p:sp>
        <p:nvSpPr>
          <p:cNvPr id="11" name="">
            <a:extLst xmlns:a="http://schemas.openxmlformats.org/drawingml/2006/main">
              <a:ext uri="{FF2B5EF4-FFF2-40B4-BE49-F238E27FC236}">
                <a16:creationId xmlns:a16="http://schemas.microsoft.com/office/drawing/2014/main" id="{9DC0CA22-39CC-4A58-A027-A04AF9079E07}"/>
              </a:ext>
            </a:extLst>
          </p:cNvPr>
          <p:cNvSpPr>
            <a:spLocks xmlns:a="http://schemas.openxmlformats.org/drawingml/2006/main" noGrp="1"/>
          </p:cNvSpPr>
          <p:nvPr/>
        </p:nvSpPr>
        <p:spPr>
          <a:xfrm xmlns:a="http://schemas.openxmlformats.org/drawingml/2006/main">
            <a:off x="619125" y="609600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717B"/>
                </a:solidFill>
                <a:latin typeface="Arial"/>
                <a:ea typeface="Arial"/>
                <a:cs typeface="Arial"/>
              </a:defRPr>
            </a:pPr>
            <a:r>
              <a:rPr sz="1725" b="0">
                <a:solidFill>
                  <a:srgbClr val="59717B"/>
                </a:solidFill>
                <a:latin typeface="Arial"/>
                <a:ea typeface="Arial"/>
                <a:cs typeface="Arial"/>
              </a:rPr>
              <a:t>One entry point: scripts/run_pipeline.py. Saved evidence supports offline replay.</a:t>
            </a:r>
          </a:p>
        </p:txBody>
      </p:sp>
      <p:sp>
        <p:nvSpPr>
          <p:cNvPr id="12" name="">
            <a:extLst xmlns:a="http://schemas.openxmlformats.org/drawingml/2006/main">
              <a:ext uri="{FF2B5EF4-FFF2-40B4-BE49-F238E27FC236}">
                <a16:creationId xmlns:a16="http://schemas.microsoft.com/office/drawing/2014/main" id="{3A0BE33F-C005-4881-86BE-867C837C80C4}"/>
              </a:ext>
            </a:extLst>
          </p:cNvPr>
          <p:cNvSpPr>
            <a:spLocks xmlns:a="http://schemas.openxmlformats.org/drawingml/2006/main" noGrp="1"/>
          </p:cNvSpPr>
          <p:nvPr/>
        </p:nvSpPr>
        <p:spPr>
          <a:xfrm xmlns:a="http://schemas.openxmlformats.org/drawingml/2006/main">
            <a:off x="11334750" y="64389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717B"/>
                </a:solidFill>
                <a:latin typeface="Arial"/>
                <a:ea typeface="Arial"/>
                <a:cs typeface="Arial"/>
              </a:defRPr>
            </a:pPr>
            <a:r>
              <a:rPr sz="1200" b="0">
                <a:solidFill>
                  <a:srgbClr val="59717B"/>
                </a:solidFill>
                <a:latin typeface="Arial"/>
                <a:ea typeface="Arial"/>
                <a:cs typeface="Arial"/>
              </a:rPr>
              <a:t>10</a:t>
            </a:r>
          </a:p>
        </p:txBody>
      </p:sp>
    </p:spTree>
    <p:extLst>
      <p:ext uri="{BB962C8B-B14F-4D97-AF65-F5344CB8AC3E}">
        <p14:creationId xmlns:p14="http://schemas.microsoft.com/office/powerpoint/2010/main" val="830222442"/>
      </p:ext>
    </p:extLst>
  </p:cSld>
</p:sld>
</file>

<file path=ppt/slides/slide11.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47f384a7cf04de9"/>
          <a:srcRect xmlns:a="http://schemas.openxmlformats.org/drawingml/2006/main" l="14856" t="0" r="14856" b="0"/>
          <a:stretch xmlns:a="http://schemas.openxmlformats.org/drawingml/2006/main">
            <a:fillRect l="0" t="0" r="0" b="0"/>
          </a:stretch>
        </p:blipFill>
        <p:spPr>
          <a:xfrm xmlns:a="http://schemas.openxmlformats.org/drawingml/2006/main">
            <a:off x="8334375" y="0"/>
            <a:ext cx="385762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8F405CA-9C0E-4408-97B3-1AF2DA6D2D86}"/>
              </a:ext>
            </a:extLst>
          </p:cNvPr>
          <p:cNvSpPr>
            <a:spLocks xmlns:a="http://schemas.openxmlformats.org/drawingml/2006/main" noGrp="1"/>
          </p:cNvSpPr>
          <p:nvPr/>
        </p:nvSpPr>
        <p:spPr>
          <a:xfrm xmlns:a="http://schemas.openxmlformats.org/drawingml/2006/main">
            <a:off x="609600" y="523875"/>
            <a:ext cx="7239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303D"/>
                </a:solidFill>
                <a:latin typeface="Arial"/>
                <a:ea typeface="Arial"/>
                <a:cs typeface="Arial"/>
              </a:defRPr>
            </a:pPr>
            <a:r>
              <a:rPr sz="3450" b="1">
                <a:solidFill>
                  <a:srgbClr val="12303D"/>
                </a:solidFill>
                <a:latin typeface="Arial"/>
                <a:ea typeface="Arial"/>
                <a:cs typeface="Arial"/>
              </a:rPr>
              <a:t>Proposed production</a:t>
            </a:r>
          </a:p>
          <a:p xmlns:a="http://schemas.openxmlformats.org/drawingml/2006/main">
            <a:pPr>
              <a:defRPr sz="3450" b="1">
                <a:solidFill>
                  <a:srgbClr val="12303D"/>
                </a:solidFill>
                <a:latin typeface="Arial"/>
                <a:ea typeface="Arial"/>
                <a:cs typeface="Arial"/>
              </a:defRPr>
            </a:pPr>
            <a:r>
              <a:rPr sz="3450" b="1">
                <a:solidFill>
                  <a:srgbClr val="12303D"/>
                </a:solidFill>
                <a:latin typeface="Arial"/>
                <a:ea typeface="Arial"/>
                <a:cs typeface="Arial"/>
              </a:rPr>
              <a:t>architecture</a:t>
            </a:r>
          </a:p>
        </p:txBody>
      </p:sp>
      <p:sp>
        <p:nvSpPr>
          <p:cNvPr id="3" name="">
            <a:extLst xmlns:a="http://schemas.openxmlformats.org/drawingml/2006/main">
              <a:ext uri="{FF2B5EF4-FFF2-40B4-BE49-F238E27FC236}">
                <a16:creationId xmlns:a16="http://schemas.microsoft.com/office/drawing/2014/main" id="{F08AF800-5D64-4AB7-A014-9C02336BD601}"/>
              </a:ext>
            </a:extLst>
          </p:cNvPr>
          <p:cNvSpPr>
            <a:spLocks xmlns:a="http://schemas.openxmlformats.org/drawingml/2006/main" noGrp="1"/>
          </p:cNvSpPr>
          <p:nvPr/>
        </p:nvSpPr>
        <p:spPr>
          <a:xfrm xmlns:a="http://schemas.openxmlformats.org/drawingml/2006/main">
            <a:off x="609600" y="2209800"/>
            <a:ext cx="723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47988"/>
                </a:solidFill>
                <a:latin typeface="Arial"/>
                <a:ea typeface="Arial"/>
                <a:cs typeface="Arial"/>
              </a:defRPr>
            </a:pPr>
            <a:r>
              <a:rPr sz="2250" b="1">
                <a:solidFill>
                  <a:srgbClr val="247988"/>
                </a:solidFill>
                <a:latin typeface="Arial"/>
                <a:ea typeface="Arial"/>
                <a:cs typeface="Arial"/>
              </a:rPr>
              <a:t>Azure Data Factory</a:t>
            </a:r>
          </a:p>
        </p:txBody>
      </p:sp>
      <p:sp>
        <p:nvSpPr>
          <p:cNvPr id="4" name="">
            <a:extLst xmlns:a="http://schemas.openxmlformats.org/drawingml/2006/main">
              <a:ext uri="{FF2B5EF4-FFF2-40B4-BE49-F238E27FC236}">
                <a16:creationId xmlns:a16="http://schemas.microsoft.com/office/drawing/2014/main" id="{254AE42E-BE36-4D40-B350-6D44DD77AD44}"/>
              </a:ext>
            </a:extLst>
          </p:cNvPr>
          <p:cNvSpPr>
            <a:spLocks xmlns:a="http://schemas.openxmlformats.org/drawingml/2006/main" noGrp="1"/>
          </p:cNvSpPr>
          <p:nvPr/>
        </p:nvSpPr>
        <p:spPr>
          <a:xfrm xmlns:a="http://schemas.openxmlformats.org/drawingml/2006/main">
            <a:off x="609600" y="2667000"/>
            <a:ext cx="709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2303D"/>
                </a:solidFill>
                <a:latin typeface="Arial"/>
                <a:ea typeface="Arial"/>
                <a:cs typeface="Arial"/>
              </a:defRPr>
            </a:pPr>
            <a:r>
              <a:rPr sz="1950" b="0">
                <a:solidFill>
                  <a:srgbClr val="12303D"/>
                </a:solidFill>
                <a:latin typeface="Arial"/>
                <a:ea typeface="Arial"/>
                <a:cs typeface="Arial"/>
              </a:rPr>
              <a:t>Schedules acquisition and processing</a:t>
            </a:r>
          </a:p>
        </p:txBody>
      </p:sp>
      <p:sp>
        <p:nvSpPr>
          <p:cNvPr id="5" name="">
            <a:extLst xmlns:a="http://schemas.openxmlformats.org/drawingml/2006/main">
              <a:ext uri="{FF2B5EF4-FFF2-40B4-BE49-F238E27FC236}">
                <a16:creationId xmlns:a16="http://schemas.microsoft.com/office/drawing/2014/main" id="{D7FD24F7-E208-4828-89CC-158DA097DD40}"/>
              </a:ext>
            </a:extLst>
          </p:cNvPr>
          <p:cNvSpPr>
            <a:spLocks xmlns:a="http://schemas.openxmlformats.org/drawingml/2006/main" noGrp="1"/>
          </p:cNvSpPr>
          <p:nvPr/>
        </p:nvSpPr>
        <p:spPr>
          <a:xfrm xmlns:a="http://schemas.openxmlformats.org/drawingml/2006/main">
            <a:off x="609600" y="3448050"/>
            <a:ext cx="723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47988"/>
                </a:solidFill>
                <a:latin typeface="Arial"/>
                <a:ea typeface="Arial"/>
                <a:cs typeface="Arial"/>
              </a:defRPr>
            </a:pPr>
            <a:r>
              <a:rPr sz="2250" b="1">
                <a:solidFill>
                  <a:srgbClr val="247988"/>
                </a:solidFill>
                <a:latin typeface="Arial"/>
                <a:ea typeface="Arial"/>
                <a:cs typeface="Arial"/>
              </a:rPr>
              <a:t>ADLS and Databricks</a:t>
            </a:r>
          </a:p>
        </p:txBody>
      </p:sp>
      <p:sp>
        <p:nvSpPr>
          <p:cNvPr id="6" name="">
            <a:extLst xmlns:a="http://schemas.openxmlformats.org/drawingml/2006/main">
              <a:ext uri="{FF2B5EF4-FFF2-40B4-BE49-F238E27FC236}">
                <a16:creationId xmlns:a16="http://schemas.microsoft.com/office/drawing/2014/main" id="{60CE6454-24E3-4A37-B8C3-6157A408425A}"/>
              </a:ext>
            </a:extLst>
          </p:cNvPr>
          <p:cNvSpPr>
            <a:spLocks xmlns:a="http://schemas.openxmlformats.org/drawingml/2006/main" noGrp="1"/>
          </p:cNvSpPr>
          <p:nvPr/>
        </p:nvSpPr>
        <p:spPr>
          <a:xfrm xmlns:a="http://schemas.openxmlformats.org/drawingml/2006/main">
            <a:off x="609600" y="3905250"/>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2303D"/>
                </a:solidFill>
                <a:latin typeface="Arial"/>
                <a:ea typeface="Arial"/>
                <a:cs typeface="Arial"/>
              </a:defRPr>
            </a:pPr>
            <a:r>
              <a:rPr sz="1950" b="0">
                <a:solidFill>
                  <a:srgbClr val="12303D"/>
                </a:solidFill>
                <a:latin typeface="Arial"/>
                <a:ea typeface="Arial"/>
                <a:cs typeface="Arial"/>
              </a:rPr>
              <a:t>Preserve evidence and build validated Delta tables</a:t>
            </a:r>
          </a:p>
        </p:txBody>
      </p:sp>
      <p:sp>
        <p:nvSpPr>
          <p:cNvPr id="7" name="">
            <a:extLst xmlns:a="http://schemas.openxmlformats.org/drawingml/2006/main">
              <a:ext uri="{FF2B5EF4-FFF2-40B4-BE49-F238E27FC236}">
                <a16:creationId xmlns:a16="http://schemas.microsoft.com/office/drawing/2014/main" id="{D09DB59F-7970-44E0-A436-8A276FC5B9BE}"/>
              </a:ext>
            </a:extLst>
          </p:cNvPr>
          <p:cNvSpPr>
            <a:spLocks xmlns:a="http://schemas.openxmlformats.org/drawingml/2006/main" noGrp="1"/>
          </p:cNvSpPr>
          <p:nvPr/>
        </p:nvSpPr>
        <p:spPr>
          <a:xfrm xmlns:a="http://schemas.openxmlformats.org/drawingml/2006/main">
            <a:off x="609600" y="4838700"/>
            <a:ext cx="7191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7988"/>
                </a:solidFill>
                <a:latin typeface="Arial"/>
                <a:ea typeface="Arial"/>
                <a:cs typeface="Arial"/>
              </a:defRPr>
            </a:pPr>
            <a:r>
              <a:rPr sz="2175" b="1">
                <a:solidFill>
                  <a:srgbClr val="247988"/>
                </a:solidFill>
                <a:latin typeface="Arial"/>
                <a:ea typeface="Arial"/>
                <a:cs typeface="Arial"/>
              </a:rPr>
              <a:t>Approved release, SQL and Power BI</a:t>
            </a:r>
          </a:p>
        </p:txBody>
      </p:sp>
      <p:sp>
        <p:nvSpPr>
          <p:cNvPr id="8" name="">
            <a:extLst xmlns:a="http://schemas.openxmlformats.org/drawingml/2006/main">
              <a:ext uri="{FF2B5EF4-FFF2-40B4-BE49-F238E27FC236}">
                <a16:creationId xmlns:a16="http://schemas.microsoft.com/office/drawing/2014/main" id="{9C1A68B3-E9C0-4DFB-A777-E3404FAC116A}"/>
              </a:ext>
            </a:extLst>
          </p:cNvPr>
          <p:cNvSpPr>
            <a:spLocks xmlns:a="http://schemas.openxmlformats.org/drawingml/2006/main" noGrp="1"/>
          </p:cNvSpPr>
          <p:nvPr/>
        </p:nvSpPr>
        <p:spPr>
          <a:xfrm xmlns:a="http://schemas.openxmlformats.org/drawingml/2006/main">
            <a:off x="609600" y="5305425"/>
            <a:ext cx="7096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2303D"/>
                </a:solidFill>
                <a:latin typeface="Arial"/>
                <a:ea typeface="Arial"/>
                <a:cs typeface="Arial"/>
              </a:defRPr>
            </a:pPr>
            <a:r>
              <a:rPr sz="1950" b="0">
                <a:solidFill>
                  <a:srgbClr val="12303D"/>
                </a:solidFill>
                <a:latin typeface="Arial"/>
                <a:ea typeface="Arial"/>
                <a:cs typeface="Arial"/>
              </a:rPr>
              <a:t>Publish only a consistent, validated run</a:t>
            </a:r>
          </a:p>
        </p:txBody>
      </p:sp>
      <p:sp>
        <p:nvSpPr>
          <p:cNvPr id="9" name="">
            <a:extLst xmlns:a="http://schemas.openxmlformats.org/drawingml/2006/main">
              <a:ext uri="{FF2B5EF4-FFF2-40B4-BE49-F238E27FC236}">
                <a16:creationId xmlns:a16="http://schemas.microsoft.com/office/drawing/2014/main" id="{9FE8C330-8E90-4326-9B1B-92E595E7A2DF}"/>
              </a:ext>
            </a:extLst>
          </p:cNvPr>
          <p:cNvSpPr>
            <a:spLocks xmlns:a="http://schemas.openxmlformats.org/drawingml/2006/main" noGrp="1"/>
          </p:cNvSpPr>
          <p:nvPr/>
        </p:nvSpPr>
        <p:spPr>
          <a:xfrm xmlns:a="http://schemas.openxmlformats.org/drawingml/2006/main">
            <a:off x="609600" y="6191250"/>
            <a:ext cx="709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B37931"/>
                </a:solidFill>
                <a:latin typeface="Arial"/>
                <a:ea typeface="Arial"/>
                <a:cs typeface="Arial"/>
              </a:defRPr>
            </a:pPr>
            <a:r>
              <a:rPr sz="1725" b="1">
                <a:solidFill>
                  <a:srgbClr val="B37931"/>
                </a:solidFill>
                <a:latin typeface="Arial"/>
                <a:ea typeface="Arial"/>
                <a:cs typeface="Arial"/>
              </a:rPr>
              <a:t>Future design only. No cloud deployment.</a:t>
            </a:r>
          </a:p>
        </p:txBody>
      </p:sp>
    </p:spTree>
    <p:extLst>
      <p:ext uri="{BB962C8B-B14F-4D97-AF65-F5344CB8AC3E}">
        <p14:creationId xmlns:p14="http://schemas.microsoft.com/office/powerpoint/2010/main" val="1606221043"/>
      </p:ext>
    </p:extLst>
  </p:cSld>
</p:sld>
</file>

<file path=ppt/slides/slide12.xml><?xml version="1.0" encoding="utf-8"?>
<p:sld xmlns:p="http://schemas.openxmlformats.org/presentationml/2006/main">
  <p:cSld>
    <p:bg>
      <p:bgPr>
        <a:solidFill xmlns:a="http://schemas.openxmlformats.org/drawingml/2006/main">
          <a:srgbClr val="12303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32AC79C-9FDC-4625-8133-87AC812CF728}"/>
              </a:ext>
            </a:extLst>
          </p:cNvPr>
          <p:cNvSpPr>
            <a:spLocks xmlns:a="http://schemas.openxmlformats.org/drawingml/2006/main" noGrp="1"/>
          </p:cNvSpPr>
          <p:nvPr/>
        </p:nvSpPr>
        <p:spPr>
          <a:xfrm xmlns:a="http://schemas.openxmlformats.org/drawingml/2006/main">
            <a:off x="609600" y="61912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What the evidence supports</a:t>
            </a:r>
          </a:p>
        </p:txBody>
      </p:sp>
      <p:sp>
        <p:nvSpPr>
          <p:cNvPr id="2" name="">
            <a:extLst xmlns:a="http://schemas.openxmlformats.org/drawingml/2006/main">
              <a:ext uri="{FF2B5EF4-FFF2-40B4-BE49-F238E27FC236}">
                <a16:creationId xmlns:a16="http://schemas.microsoft.com/office/drawing/2014/main" id="{00F4581B-48B9-415C-8772-89B397037CCA}"/>
              </a:ext>
            </a:extLst>
          </p:cNvPr>
          <p:cNvSpPr>
            <a:spLocks xmlns:a="http://schemas.openxmlformats.org/drawingml/2006/main" noGrp="1"/>
          </p:cNvSpPr>
          <p:nvPr/>
        </p:nvSpPr>
        <p:spPr>
          <a:xfrm xmlns:a="http://schemas.openxmlformats.org/drawingml/2006/main">
            <a:off x="609600" y="2095500"/>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A9D9D6"/>
                </a:solidFill>
                <a:latin typeface="Arial"/>
                <a:ea typeface="Arial"/>
                <a:cs typeface="Arial"/>
              </a:defRPr>
            </a:pPr>
            <a:r>
              <a:rPr sz="3600" b="1">
                <a:solidFill>
                  <a:srgbClr val="A9D9D6"/>
                </a:solidFill>
                <a:latin typeface="Arial"/>
                <a:ea typeface="Arial"/>
                <a:cs typeface="Arial"/>
              </a:rPr>
              <a:t>Senior retention is the priority</a:t>
            </a:r>
          </a:p>
        </p:txBody>
      </p:sp>
      <p:sp>
        <p:nvSpPr>
          <p:cNvPr id="3" name="">
            <a:extLst xmlns:a="http://schemas.openxmlformats.org/drawingml/2006/main">
              <a:ext uri="{FF2B5EF4-FFF2-40B4-BE49-F238E27FC236}">
                <a16:creationId xmlns:a16="http://schemas.microsoft.com/office/drawing/2014/main" id="{5C5C7419-418E-4F18-89C8-998DA9854906}"/>
              </a:ext>
            </a:extLst>
          </p:cNvPr>
          <p:cNvSpPr>
            <a:spLocks xmlns:a="http://schemas.openxmlformats.org/drawingml/2006/main" noGrp="1"/>
          </p:cNvSpPr>
          <p:nvPr/>
        </p:nvSpPr>
        <p:spPr>
          <a:xfrm xmlns:a="http://schemas.openxmlformats.org/drawingml/2006/main">
            <a:off x="609600" y="31432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Investigate internal drivers of the shortfall</a:t>
            </a:r>
          </a:p>
        </p:txBody>
      </p:sp>
      <p:sp>
        <p:nvSpPr>
          <p:cNvPr id="4" name="">
            <a:extLst xmlns:a="http://schemas.openxmlformats.org/drawingml/2006/main">
              <a:ext uri="{FF2B5EF4-FFF2-40B4-BE49-F238E27FC236}">
                <a16:creationId xmlns:a16="http://schemas.microsoft.com/office/drawing/2014/main" id="{46B12BE0-AA0C-463F-92A3-18EFB41061DF}"/>
              </a:ext>
            </a:extLst>
          </p:cNvPr>
          <p:cNvSpPr>
            <a:spLocks xmlns:a="http://schemas.openxmlformats.org/drawingml/2006/main" noGrp="1"/>
          </p:cNvSpPr>
          <p:nvPr/>
        </p:nvSpPr>
        <p:spPr>
          <a:xfrm xmlns:a="http://schemas.openxmlformats.org/drawingml/2006/main">
            <a:off x="609600" y="40005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Resolve missing countries and unknown classifications</a:t>
            </a:r>
          </a:p>
        </p:txBody>
      </p:sp>
      <p:sp>
        <p:nvSpPr>
          <p:cNvPr id="5" name="">
            <a:extLst xmlns:a="http://schemas.openxmlformats.org/drawingml/2006/main">
              <a:ext uri="{FF2B5EF4-FFF2-40B4-BE49-F238E27FC236}">
                <a16:creationId xmlns:a16="http://schemas.microsoft.com/office/drawing/2014/main" id="{10CECD12-843C-4C71-8609-3BF8FEEE24AF}"/>
              </a:ext>
            </a:extLst>
          </p:cNvPr>
          <p:cNvSpPr>
            <a:spLocks xmlns:a="http://schemas.openxmlformats.org/drawingml/2006/main" noGrp="1"/>
          </p:cNvSpPr>
          <p:nvPr/>
        </p:nvSpPr>
        <p:spPr>
          <a:xfrm xmlns:a="http://schemas.openxmlformats.org/drawingml/2006/main">
            <a:off x="609600" y="48577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Expand historical evidence before stronger economic claims</a:t>
            </a:r>
          </a:p>
        </p:txBody>
      </p:sp>
      <p:sp>
        <p:nvSpPr>
          <p:cNvPr id="6" name="">
            <a:extLst xmlns:a="http://schemas.openxmlformats.org/drawingml/2006/main">
              <a:ext uri="{FF2B5EF4-FFF2-40B4-BE49-F238E27FC236}">
                <a16:creationId xmlns:a16="http://schemas.microsoft.com/office/drawing/2014/main" id="{D9EE26BA-A19A-4192-818B-00E1213FD37F}"/>
              </a:ext>
            </a:extLst>
          </p:cNvPr>
          <p:cNvSpPr>
            <a:spLocks xmlns:a="http://schemas.openxmlformats.org/drawingml/2006/main" noGrp="1"/>
          </p:cNvSpPr>
          <p:nvPr/>
        </p:nvSpPr>
        <p:spPr>
          <a:xfrm xmlns:a="http://schemas.openxmlformats.org/drawingml/2006/main">
            <a:off x="609600" y="606742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9D9D6"/>
                </a:solidFill>
                <a:latin typeface="Arial"/>
                <a:ea typeface="Arial"/>
                <a:cs typeface="Arial"/>
              </a:defRPr>
            </a:pPr>
            <a:r>
              <a:rPr sz="1875" b="0">
                <a:solidFill>
                  <a:srgbClr val="A9D9D6"/>
                </a:solidFill>
                <a:latin typeface="Arial"/>
                <a:ea typeface="Arial"/>
                <a:cs typeface="Arial"/>
              </a:rPr>
              <a:t>Questions</a:t>
            </a:r>
          </a:p>
        </p:txBody>
      </p:sp>
      <p:sp>
        <p:nvSpPr>
          <p:cNvPr id="7" name="">
            <a:extLst xmlns:a="http://schemas.openxmlformats.org/drawingml/2006/main">
              <a:ext uri="{FF2B5EF4-FFF2-40B4-BE49-F238E27FC236}">
                <a16:creationId xmlns:a16="http://schemas.microsoft.com/office/drawing/2014/main" id="{360896C5-4888-4399-A2C5-F302090FCB67}"/>
              </a:ext>
            </a:extLst>
          </p:cNvPr>
          <p:cNvSpPr>
            <a:spLocks xmlns:a="http://schemas.openxmlformats.org/drawingml/2006/main" noGrp="1"/>
          </p:cNvSpPr>
          <p:nvPr/>
        </p:nvSpPr>
        <p:spPr>
          <a:xfrm xmlns:a="http://schemas.openxmlformats.org/drawingml/2006/main">
            <a:off x="11334750" y="64389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9D1D7"/>
                </a:solidFill>
                <a:latin typeface="Arial"/>
                <a:ea typeface="Arial"/>
                <a:cs typeface="Arial"/>
              </a:defRPr>
            </a:pPr>
            <a:r>
              <a:rPr sz="1200" b="0">
                <a:solidFill>
                  <a:srgbClr val="B9D1D7"/>
                </a:solidFill>
                <a:latin typeface="Arial"/>
                <a:ea typeface="Arial"/>
                <a:cs typeface="Arial"/>
              </a:rPr>
              <a:t>12</a:t>
            </a:r>
          </a:p>
        </p:txBody>
      </p:sp>
    </p:spTree>
    <p:extLst>
      <p:ext uri="{BB962C8B-B14F-4D97-AF65-F5344CB8AC3E}">
        <p14:creationId xmlns:p14="http://schemas.microsoft.com/office/powerpoint/2010/main" val="4374154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2026-09-28T10:58:55.7230000Z</dcterms:created>
  <dcterms:modified xsi:type="dcterms:W3CDTF">2026-09-28T10:58:55.7230000Z</dcterms:modified>
</coreProperties>
</file>